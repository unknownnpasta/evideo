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EvidEO" id="{64f37105-d261-6cb9-84dd-52f1cd67fbe9}">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430"/>
                </a:solidFill>
                <a:latin typeface="+mn-lt"/>
              </a:defRPr>
            </a:pPr>
            <a:r>
              <a:rPr sz="1100" b="0" i="0" u="none" strike="noStrike">
                <a:solidFill>
                  <a:srgbClr val="1E2430"/>
                </a:solidFill>
                <a:latin typeface="+mn-lt"/>
              </a:rPr>
              <a:t>Can it find the thing you asked about? (%)</a:t>
            </a:r>
          </a:p>
        </c:rich>
      </c:tx>
      <c:layout/>
      <c:overlay val="0"/>
    </c:title>
    <c:autoTitleDeleted val="0"/>
    <c:plotArea>
      <c:layout/>
      <c:barChart>
        <c:barDir val="bar"/>
        <c:grouping val="clustered"/>
        <c:varyColors val="0"/>
        <c:ser>
          <c:idx val="0"/>
          <c:order val="0"/>
          <c:tx>
            <c:strRef>
              <c:f>Sheet1!$B$1</c:f>
              <c:strCache>
                <c:ptCount val="1"/>
                <c:pt idx="0">
                  <c:v>Grounding at IoU 0.5 (%)</c:v>
                </c:pt>
              </c:strCache>
            </c:strRef>
          </c:tx>
          <c:spPr>
            <a:solidFill>
              <a:srgbClr val="9A9A9A"/>
            </a:solidFill>
            <a:effectLst/>
          </c:spPr>
          <c:invertIfNegative val="0"/>
          <c:dLbls>
            <c:numFmt formatCode="#,##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dPt>
            <c:idx val="0"/>
            <c:invertIfNegative val="0"/>
            <c:bubble3D val="0"/>
            <c:spPr>
              <a:solidFill>
                <a:srgbClr val="9A9A9A"/>
              </a:solidFill>
              <a:effectLst/>
            </c:spPr>
          </c:dPt>
          <c:dPt>
            <c:idx val="1"/>
            <c:invertIfNegative val="0"/>
            <c:bubble3D val="0"/>
            <c:spPr>
              <a:solidFill>
                <a:srgbClr val="9A9A9A"/>
              </a:solidFill>
              <a:effectLst/>
            </c:spPr>
          </c:dPt>
          <c:dPt>
            <c:idx val="2"/>
            <c:invertIfNegative val="0"/>
            <c:bubble3D val="0"/>
            <c:spPr>
              <a:solidFill>
                <a:srgbClr val="1F5A99"/>
              </a:solidFill>
              <a:effectLst/>
            </c:spPr>
          </c:dPt>
          <c:dPt>
            <c:idx val="3"/>
            <c:invertIfNegative val="0"/>
            <c:bubble3D val="0"/>
            <c:spPr>
              <a:solidFill>
                <a:srgbClr val="1F5A99"/>
              </a:solidFill>
              <a:effectLst/>
            </c:spPr>
          </c:dPt>
          <c:dPt>
            <c:idx val="4"/>
            <c:invertIfNegative val="0"/>
            <c:bubble3D val="0"/>
            <c:spPr>
              <a:solidFill>
                <a:srgbClr val="2A9D8F"/>
              </a:solidFill>
              <a:effectLst/>
            </c:spPr>
          </c:dPt>
          <c:cat>
            <c:multiLvlStrRef>
              <c:f>Sheet1!$A$2:$A$6</c:f>
              <c:multiLvlStrCache>
                <c:ptCount val="5"/>
                <c:lvl>
                  <c:pt idx="0">
                    <c:v>GPT-4o</c:v>
                  </c:pt>
                  <c:pt idx="1">
                    <c:v>GPT-4V</c:v>
                  </c:pt>
                  <c:pt idx="2">
                    <c:v>GeoChat</c:v>
                  </c:pt>
                  <c:pt idx="3">
                    <c:v>EarthDial</c:v>
                  </c:pt>
                  <c:pt idx="4">
                    <c:v>Supervised specialist</c:v>
                  </c:pt>
                </c:lvl>
              </c:multiLvlStrCache>
            </c:multiLvlStrRef>
          </c:cat>
          <c:val>
            <c:numRef>
              <c:f>Sheet1!$B$2:$B$6</c:f>
              <c:numCache>
                <c:formatCode>General</c:formatCode>
                <c:ptCount val="5"/>
                <c:pt idx="0">
                  <c:v>0.9</c:v>
                </c:pt>
                <c:pt idx="1">
                  <c:v>7.6</c:v>
                </c:pt>
                <c:pt idx="2">
                  <c:v>10.6</c:v>
                </c:pt>
                <c:pt idx="3">
                  <c:v>24.3</c:v>
                </c:pt>
                <c:pt idx="4">
                  <c:v>76.8</c:v>
                </c:pt>
              </c:numCache>
            </c:numRef>
          </c:val>
        </c:ser>
        <c:dLbls>
          <c:numFmt formatCode="#,##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catAx>
      <c:valAx>
        <c:axId val="2094734552"/>
        <c:scaling>
          <c:orientation val="minMax"/>
          <c:max val="9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EvidEO v1.1 (VV + VH)</c:v>
                </c:pt>
              </c:strCache>
            </c:strRef>
          </c:tx>
          <c:spPr>
            <a:solidFill>
              <a:srgbClr val="1F5A99"/>
            </a:solidFill>
            <a:ln w="25400" cap="flat">
              <a:solidFill>
                <a:srgbClr val="1F5A99"/>
              </a:solidFill>
              <a:prstDash val="solid"/>
              <a:round/>
            </a:ln>
            <a:effectLst/>
          </c:spPr>
          <c:marker>
            <c:symbol val="none"/>
            <c:size val="6"/>
            <c:spPr>
              <a:solidFill>
                <a:srgbClr val="1F5A99"/>
              </a:solidFill>
              <a:ln w="9525" cap="flat">
                <a:solidFill>
                  <a:srgbClr val="1F5A99"/>
                </a:solidFill>
                <a:prstDash val="solid"/>
                <a:round/>
              </a:ln>
              <a:effectLst/>
            </c:spPr>
          </c:marker>
          <c:xVal>
            <c:numRef>
              <c:f>Sheet1!$A$2:$A$83</c:f>
              <c:numCache>
                <c:formatCode>General</c:formatCode>
                <c:ptCount val="82"/>
                <c:pt idx="0">
                  <c:v>0.012</c:v>
                </c:pt>
                <c:pt idx="1">
                  <c:v>0.024</c:v>
                </c:pt>
                <c:pt idx="2">
                  <c:v>0.037</c:v>
                </c:pt>
                <c:pt idx="3">
                  <c:v>0.049</c:v>
                </c:pt>
                <c:pt idx="4">
                  <c:v>0.061</c:v>
                </c:pt>
                <c:pt idx="5">
                  <c:v>0.073</c:v>
                </c:pt>
                <c:pt idx="6">
                  <c:v>0.085</c:v>
                </c:pt>
                <c:pt idx="7">
                  <c:v>0.098</c:v>
                </c:pt>
                <c:pt idx="8">
                  <c:v>0.11</c:v>
                </c:pt>
                <c:pt idx="9">
                  <c:v>0.122</c:v>
                </c:pt>
                <c:pt idx="10">
                  <c:v>0.134</c:v>
                </c:pt>
                <c:pt idx="11">
                  <c:v>0.146</c:v>
                </c:pt>
                <c:pt idx="12">
                  <c:v>0.159</c:v>
                </c:pt>
                <c:pt idx="13">
                  <c:v>0.171</c:v>
                </c:pt>
                <c:pt idx="14">
                  <c:v>0.183</c:v>
                </c:pt>
                <c:pt idx="15">
                  <c:v>0.195</c:v>
                </c:pt>
                <c:pt idx="16">
                  <c:v>0.207</c:v>
                </c:pt>
                <c:pt idx="17">
                  <c:v>0.22</c:v>
                </c:pt>
                <c:pt idx="18">
                  <c:v>0.232</c:v>
                </c:pt>
                <c:pt idx="19">
                  <c:v>0.244</c:v>
                </c:pt>
                <c:pt idx="20">
                  <c:v>0.256</c:v>
                </c:pt>
                <c:pt idx="21">
                  <c:v>0.268</c:v>
                </c:pt>
                <c:pt idx="22">
                  <c:v>0.28</c:v>
                </c:pt>
                <c:pt idx="23">
                  <c:v>0.293</c:v>
                </c:pt>
                <c:pt idx="24">
                  <c:v>0.305</c:v>
                </c:pt>
                <c:pt idx="25">
                  <c:v>0.317</c:v>
                </c:pt>
                <c:pt idx="26">
                  <c:v>0.329</c:v>
                </c:pt>
                <c:pt idx="27">
                  <c:v>0.341</c:v>
                </c:pt>
                <c:pt idx="28">
                  <c:v>0.354</c:v>
                </c:pt>
                <c:pt idx="29">
                  <c:v>0.366</c:v>
                </c:pt>
                <c:pt idx="30">
                  <c:v>0.378</c:v>
                </c:pt>
                <c:pt idx="31">
                  <c:v>0.39</c:v>
                </c:pt>
                <c:pt idx="32">
                  <c:v>0.402</c:v>
                </c:pt>
                <c:pt idx="33">
                  <c:v>0.415</c:v>
                </c:pt>
                <c:pt idx="34">
                  <c:v>0.427</c:v>
                </c:pt>
                <c:pt idx="35">
                  <c:v>0.439</c:v>
                </c:pt>
                <c:pt idx="36">
                  <c:v>0.451</c:v>
                </c:pt>
                <c:pt idx="37">
                  <c:v>0.463</c:v>
                </c:pt>
                <c:pt idx="38">
                  <c:v>0.476</c:v>
                </c:pt>
                <c:pt idx="39">
                  <c:v>0.488</c:v>
                </c:pt>
                <c:pt idx="40">
                  <c:v>0.5</c:v>
                </c:pt>
                <c:pt idx="41">
                  <c:v>0.512</c:v>
                </c:pt>
                <c:pt idx="42">
                  <c:v>0.524</c:v>
                </c:pt>
                <c:pt idx="43">
                  <c:v>0.537</c:v>
                </c:pt>
                <c:pt idx="44">
                  <c:v>0.549</c:v>
                </c:pt>
                <c:pt idx="45">
                  <c:v>0.561</c:v>
                </c:pt>
                <c:pt idx="46">
                  <c:v>0.573</c:v>
                </c:pt>
                <c:pt idx="47">
                  <c:v>0.585</c:v>
                </c:pt>
                <c:pt idx="48">
                  <c:v>0.598</c:v>
                </c:pt>
                <c:pt idx="49">
                  <c:v>0.61</c:v>
                </c:pt>
                <c:pt idx="50">
                  <c:v>0.622</c:v>
                </c:pt>
                <c:pt idx="51">
                  <c:v>0.634</c:v>
                </c:pt>
                <c:pt idx="52">
                  <c:v>0.646</c:v>
                </c:pt>
                <c:pt idx="53">
                  <c:v>0.659</c:v>
                </c:pt>
                <c:pt idx="54">
                  <c:v>0.671</c:v>
                </c:pt>
                <c:pt idx="55">
                  <c:v>0.683</c:v>
                </c:pt>
                <c:pt idx="56">
                  <c:v>0.695</c:v>
                </c:pt>
                <c:pt idx="57">
                  <c:v>0.707</c:v>
                </c:pt>
                <c:pt idx="58">
                  <c:v>0.72</c:v>
                </c:pt>
                <c:pt idx="59">
                  <c:v>0.732</c:v>
                </c:pt>
                <c:pt idx="60">
                  <c:v>0.744</c:v>
                </c:pt>
                <c:pt idx="61">
                  <c:v>0.756</c:v>
                </c:pt>
                <c:pt idx="62">
                  <c:v>0.768</c:v>
                </c:pt>
                <c:pt idx="63">
                  <c:v>0.78</c:v>
                </c:pt>
                <c:pt idx="64">
                  <c:v>0.793</c:v>
                </c:pt>
                <c:pt idx="65">
                  <c:v>0.805</c:v>
                </c:pt>
                <c:pt idx="66">
                  <c:v>0.817</c:v>
                </c:pt>
                <c:pt idx="67">
                  <c:v>0.829</c:v>
                </c:pt>
                <c:pt idx="68">
                  <c:v>0.841</c:v>
                </c:pt>
                <c:pt idx="69">
                  <c:v>0.854</c:v>
                </c:pt>
                <c:pt idx="70">
                  <c:v>0.866</c:v>
                </c:pt>
                <c:pt idx="71">
                  <c:v>0.878</c:v>
                </c:pt>
                <c:pt idx="72">
                  <c:v>0.89</c:v>
                </c:pt>
                <c:pt idx="73">
                  <c:v>0.902</c:v>
                </c:pt>
                <c:pt idx="74">
                  <c:v>0.915</c:v>
                </c:pt>
                <c:pt idx="75">
                  <c:v>0.927</c:v>
                </c:pt>
                <c:pt idx="76">
                  <c:v>0.939</c:v>
                </c:pt>
                <c:pt idx="77">
                  <c:v>0.951</c:v>
                </c:pt>
                <c:pt idx="78">
                  <c:v>0.963</c:v>
                </c:pt>
                <c:pt idx="79">
                  <c:v>0.976</c:v>
                </c:pt>
                <c:pt idx="80">
                  <c:v>0.988</c:v>
                </c:pt>
                <c:pt idx="81">
                  <c:v>1</c:v>
                </c:pt>
              </c:numCache>
            </c:numRef>
          </c:xVal>
          <c:yVal>
            <c:numRef>
              <c:f>Sheet1!$B$2:$B$83</c:f>
              <c:numCache>
                <c:formatCode>General</c:formatCode>
                <c:ptCount val="82"/>
                <c:pt idx="0">
                  <c:v>0</c:v>
                </c:pt>
                <c:pt idx="1">
                  <c:v>0</c:v>
                </c:pt>
                <c:pt idx="2">
                  <c:v>0</c:v>
                </c:pt>
                <c:pt idx="3">
                  <c:v>0</c:v>
                </c:pt>
                <c:pt idx="4">
                  <c:v>0</c:v>
                </c:pt>
                <c:pt idx="5">
                  <c:v>0</c:v>
                </c:pt>
                <c:pt idx="6">
                  <c:v>0</c:v>
                </c:pt>
                <c:pt idx="7">
                  <c:v>0</c:v>
                </c:pt>
                <c:pt idx="8">
                  <c:v>11.1</c:v>
                </c:pt>
                <c:pt idx="9">
                  <c:v>10</c:v>
                </c:pt>
                <c:pt idx="10">
                  <c:v>9.1</c:v>
                </c:pt>
                <c:pt idx="11">
                  <c:v>8.3</c:v>
                </c:pt>
                <c:pt idx="12">
                  <c:v>15.4</c:v>
                </c:pt>
                <c:pt idx="13">
                  <c:v>21.4</c:v>
                </c:pt>
                <c:pt idx="14">
                  <c:v>20</c:v>
                </c:pt>
                <c:pt idx="15">
                  <c:v>18.8</c:v>
                </c:pt>
                <c:pt idx="16">
                  <c:v>23.5</c:v>
                </c:pt>
                <c:pt idx="17">
                  <c:v>22.2</c:v>
                </c:pt>
                <c:pt idx="18">
                  <c:v>26.3</c:v>
                </c:pt>
                <c:pt idx="19">
                  <c:v>25</c:v>
                </c:pt>
                <c:pt idx="20">
                  <c:v>28.6</c:v>
                </c:pt>
                <c:pt idx="21">
                  <c:v>27.3</c:v>
                </c:pt>
                <c:pt idx="22">
                  <c:v>26.1</c:v>
                </c:pt>
                <c:pt idx="23">
                  <c:v>25</c:v>
                </c:pt>
                <c:pt idx="24">
                  <c:v>24</c:v>
                </c:pt>
                <c:pt idx="25">
                  <c:v>23.1</c:v>
                </c:pt>
                <c:pt idx="26">
                  <c:v>22.2</c:v>
                </c:pt>
                <c:pt idx="27">
                  <c:v>21.4</c:v>
                </c:pt>
                <c:pt idx="28">
                  <c:v>20.7</c:v>
                </c:pt>
                <c:pt idx="29">
                  <c:v>20</c:v>
                </c:pt>
                <c:pt idx="30">
                  <c:v>19.4</c:v>
                </c:pt>
                <c:pt idx="31">
                  <c:v>21.9</c:v>
                </c:pt>
                <c:pt idx="32">
                  <c:v>24.2</c:v>
                </c:pt>
                <c:pt idx="33">
                  <c:v>23.5</c:v>
                </c:pt>
                <c:pt idx="34">
                  <c:v>25.7</c:v>
                </c:pt>
                <c:pt idx="35">
                  <c:v>27.8</c:v>
                </c:pt>
                <c:pt idx="36">
                  <c:v>27</c:v>
                </c:pt>
                <c:pt idx="37">
                  <c:v>28.9</c:v>
                </c:pt>
                <c:pt idx="38">
                  <c:v>30.8</c:v>
                </c:pt>
                <c:pt idx="39">
                  <c:v>30</c:v>
                </c:pt>
                <c:pt idx="40">
                  <c:v>29.3</c:v>
                </c:pt>
                <c:pt idx="41">
                  <c:v>31</c:v>
                </c:pt>
                <c:pt idx="42">
                  <c:v>30.2</c:v>
                </c:pt>
                <c:pt idx="43">
                  <c:v>31.8</c:v>
                </c:pt>
                <c:pt idx="44">
                  <c:v>33.3</c:v>
                </c:pt>
                <c:pt idx="45">
                  <c:v>34.8</c:v>
                </c:pt>
                <c:pt idx="46">
                  <c:v>34</c:v>
                </c:pt>
                <c:pt idx="47">
                  <c:v>33.3</c:v>
                </c:pt>
                <c:pt idx="48">
                  <c:v>34.7</c:v>
                </c:pt>
                <c:pt idx="49">
                  <c:v>34</c:v>
                </c:pt>
                <c:pt idx="50">
                  <c:v>35.3</c:v>
                </c:pt>
                <c:pt idx="51">
                  <c:v>34.6</c:v>
                </c:pt>
                <c:pt idx="52">
                  <c:v>34</c:v>
                </c:pt>
                <c:pt idx="53">
                  <c:v>35.2</c:v>
                </c:pt>
                <c:pt idx="54">
                  <c:v>36.4</c:v>
                </c:pt>
                <c:pt idx="55">
                  <c:v>37.5</c:v>
                </c:pt>
                <c:pt idx="56">
                  <c:v>38.6</c:v>
                </c:pt>
                <c:pt idx="57">
                  <c:v>39.7</c:v>
                </c:pt>
                <c:pt idx="58">
                  <c:v>40.7</c:v>
                </c:pt>
                <c:pt idx="59">
                  <c:v>40</c:v>
                </c:pt>
                <c:pt idx="60">
                  <c:v>41</c:v>
                </c:pt>
                <c:pt idx="61">
                  <c:v>41.9</c:v>
                </c:pt>
                <c:pt idx="62">
                  <c:v>42.9</c:v>
                </c:pt>
                <c:pt idx="63">
                  <c:v>42.2</c:v>
                </c:pt>
                <c:pt idx="64">
                  <c:v>43.1</c:v>
                </c:pt>
                <c:pt idx="65">
                  <c:v>43.9</c:v>
                </c:pt>
                <c:pt idx="66">
                  <c:v>44.8</c:v>
                </c:pt>
                <c:pt idx="67">
                  <c:v>44.1</c:v>
                </c:pt>
                <c:pt idx="68">
                  <c:v>43.5</c:v>
                </c:pt>
                <c:pt idx="69">
                  <c:v>42.9</c:v>
                </c:pt>
                <c:pt idx="70">
                  <c:v>43.7</c:v>
                </c:pt>
                <c:pt idx="71">
                  <c:v>44.4</c:v>
                </c:pt>
                <c:pt idx="72">
                  <c:v>43.8</c:v>
                </c:pt>
                <c:pt idx="73">
                  <c:v>43.2</c:v>
                </c:pt>
                <c:pt idx="74">
                  <c:v>44</c:v>
                </c:pt>
                <c:pt idx="75">
                  <c:v>44.7</c:v>
                </c:pt>
                <c:pt idx="76">
                  <c:v>45.5</c:v>
                </c:pt>
                <c:pt idx="77">
                  <c:v>46.2</c:v>
                </c:pt>
                <c:pt idx="78">
                  <c:v>45.6</c:v>
                </c:pt>
                <c:pt idx="79">
                  <c:v>45</c:v>
                </c:pt>
                <c:pt idx="80">
                  <c:v>44.4</c:v>
                </c:pt>
                <c:pt idx="81">
                  <c:v>45.1</c:v>
                </c:pt>
              </c:numCache>
            </c:numRef>
          </c:yVal>
          <c:smooth val="0"/>
        </c:ser>
        <c:ser>
          <c:idx val="1"/>
          <c:order val="1"/>
          <c:tx>
            <c:strRef>
              <c:f>Sheet1!$C$1</c:f>
              <c:strCache>
                <c:ptCount val="1"/>
                <c:pt idx="0">
                  <c:v>Always answer</c:v>
                </c:pt>
              </c:strCache>
            </c:strRef>
          </c:tx>
          <c:spPr>
            <a:solidFill>
              <a:srgbClr val="D9822B"/>
            </a:solidFill>
            <a:ln w="25400" cap="flat">
              <a:solidFill>
                <a:srgbClr val="D9822B"/>
              </a:solidFill>
              <a:prstDash val="solid"/>
              <a:round/>
            </a:ln>
            <a:effectLst/>
          </c:spPr>
          <c:marker>
            <c:symbol val="none"/>
            <c:size val="6"/>
            <c:spPr>
              <a:solidFill>
                <a:srgbClr val="D9822B"/>
              </a:solidFill>
              <a:ln w="9525" cap="flat">
                <a:solidFill>
                  <a:srgbClr val="D9822B"/>
                </a:solidFill>
                <a:prstDash val="solid"/>
                <a:round/>
              </a:ln>
              <a:effectLst/>
            </c:spPr>
          </c:marker>
          <c:xVal>
            <c:numRef>
              <c:f>Sheet1!$A$2:$A$83</c:f>
              <c:numCache>
                <c:formatCode>General</c:formatCode>
                <c:ptCount val="82"/>
                <c:pt idx="0">
                  <c:v>0.012</c:v>
                </c:pt>
                <c:pt idx="1">
                  <c:v>0.024</c:v>
                </c:pt>
                <c:pt idx="2">
                  <c:v>0.037</c:v>
                </c:pt>
                <c:pt idx="3">
                  <c:v>0.049</c:v>
                </c:pt>
                <c:pt idx="4">
                  <c:v>0.061</c:v>
                </c:pt>
                <c:pt idx="5">
                  <c:v>0.073</c:v>
                </c:pt>
                <c:pt idx="6">
                  <c:v>0.085</c:v>
                </c:pt>
                <c:pt idx="7">
                  <c:v>0.098</c:v>
                </c:pt>
                <c:pt idx="8">
                  <c:v>0.11</c:v>
                </c:pt>
                <c:pt idx="9">
                  <c:v>0.122</c:v>
                </c:pt>
                <c:pt idx="10">
                  <c:v>0.134</c:v>
                </c:pt>
                <c:pt idx="11">
                  <c:v>0.146</c:v>
                </c:pt>
                <c:pt idx="12">
                  <c:v>0.159</c:v>
                </c:pt>
                <c:pt idx="13">
                  <c:v>0.171</c:v>
                </c:pt>
                <c:pt idx="14">
                  <c:v>0.183</c:v>
                </c:pt>
                <c:pt idx="15">
                  <c:v>0.195</c:v>
                </c:pt>
                <c:pt idx="16">
                  <c:v>0.207</c:v>
                </c:pt>
                <c:pt idx="17">
                  <c:v>0.22</c:v>
                </c:pt>
                <c:pt idx="18">
                  <c:v>0.232</c:v>
                </c:pt>
                <c:pt idx="19">
                  <c:v>0.244</c:v>
                </c:pt>
                <c:pt idx="20">
                  <c:v>0.256</c:v>
                </c:pt>
                <c:pt idx="21">
                  <c:v>0.268</c:v>
                </c:pt>
                <c:pt idx="22">
                  <c:v>0.28</c:v>
                </c:pt>
                <c:pt idx="23">
                  <c:v>0.293</c:v>
                </c:pt>
                <c:pt idx="24">
                  <c:v>0.305</c:v>
                </c:pt>
                <c:pt idx="25">
                  <c:v>0.317</c:v>
                </c:pt>
                <c:pt idx="26">
                  <c:v>0.329</c:v>
                </c:pt>
                <c:pt idx="27">
                  <c:v>0.341</c:v>
                </c:pt>
                <c:pt idx="28">
                  <c:v>0.354</c:v>
                </c:pt>
                <c:pt idx="29">
                  <c:v>0.366</c:v>
                </c:pt>
                <c:pt idx="30">
                  <c:v>0.378</c:v>
                </c:pt>
                <c:pt idx="31">
                  <c:v>0.39</c:v>
                </c:pt>
                <c:pt idx="32">
                  <c:v>0.402</c:v>
                </c:pt>
                <c:pt idx="33">
                  <c:v>0.415</c:v>
                </c:pt>
                <c:pt idx="34">
                  <c:v>0.427</c:v>
                </c:pt>
                <c:pt idx="35">
                  <c:v>0.439</c:v>
                </c:pt>
                <c:pt idx="36">
                  <c:v>0.451</c:v>
                </c:pt>
                <c:pt idx="37">
                  <c:v>0.463</c:v>
                </c:pt>
                <c:pt idx="38">
                  <c:v>0.476</c:v>
                </c:pt>
                <c:pt idx="39">
                  <c:v>0.488</c:v>
                </c:pt>
                <c:pt idx="40">
                  <c:v>0.5</c:v>
                </c:pt>
                <c:pt idx="41">
                  <c:v>0.512</c:v>
                </c:pt>
                <c:pt idx="42">
                  <c:v>0.524</c:v>
                </c:pt>
                <c:pt idx="43">
                  <c:v>0.537</c:v>
                </c:pt>
                <c:pt idx="44">
                  <c:v>0.549</c:v>
                </c:pt>
                <c:pt idx="45">
                  <c:v>0.561</c:v>
                </c:pt>
                <c:pt idx="46">
                  <c:v>0.573</c:v>
                </c:pt>
                <c:pt idx="47">
                  <c:v>0.585</c:v>
                </c:pt>
                <c:pt idx="48">
                  <c:v>0.598</c:v>
                </c:pt>
                <c:pt idx="49">
                  <c:v>0.61</c:v>
                </c:pt>
                <c:pt idx="50">
                  <c:v>0.622</c:v>
                </c:pt>
                <c:pt idx="51">
                  <c:v>0.634</c:v>
                </c:pt>
                <c:pt idx="52">
                  <c:v>0.646</c:v>
                </c:pt>
                <c:pt idx="53">
                  <c:v>0.659</c:v>
                </c:pt>
                <c:pt idx="54">
                  <c:v>0.671</c:v>
                </c:pt>
                <c:pt idx="55">
                  <c:v>0.683</c:v>
                </c:pt>
                <c:pt idx="56">
                  <c:v>0.695</c:v>
                </c:pt>
                <c:pt idx="57">
                  <c:v>0.707</c:v>
                </c:pt>
                <c:pt idx="58">
                  <c:v>0.72</c:v>
                </c:pt>
                <c:pt idx="59">
                  <c:v>0.732</c:v>
                </c:pt>
                <c:pt idx="60">
                  <c:v>0.744</c:v>
                </c:pt>
                <c:pt idx="61">
                  <c:v>0.756</c:v>
                </c:pt>
                <c:pt idx="62">
                  <c:v>0.768</c:v>
                </c:pt>
                <c:pt idx="63">
                  <c:v>0.78</c:v>
                </c:pt>
                <c:pt idx="64">
                  <c:v>0.793</c:v>
                </c:pt>
                <c:pt idx="65">
                  <c:v>0.805</c:v>
                </c:pt>
                <c:pt idx="66">
                  <c:v>0.817</c:v>
                </c:pt>
                <c:pt idx="67">
                  <c:v>0.829</c:v>
                </c:pt>
                <c:pt idx="68">
                  <c:v>0.841</c:v>
                </c:pt>
                <c:pt idx="69">
                  <c:v>0.854</c:v>
                </c:pt>
                <c:pt idx="70">
                  <c:v>0.866</c:v>
                </c:pt>
                <c:pt idx="71">
                  <c:v>0.878</c:v>
                </c:pt>
                <c:pt idx="72">
                  <c:v>0.89</c:v>
                </c:pt>
                <c:pt idx="73">
                  <c:v>0.902</c:v>
                </c:pt>
                <c:pt idx="74">
                  <c:v>0.915</c:v>
                </c:pt>
                <c:pt idx="75">
                  <c:v>0.927</c:v>
                </c:pt>
                <c:pt idx="76">
                  <c:v>0.939</c:v>
                </c:pt>
                <c:pt idx="77">
                  <c:v>0.951</c:v>
                </c:pt>
                <c:pt idx="78">
                  <c:v>0.963</c:v>
                </c:pt>
                <c:pt idx="79">
                  <c:v>0.976</c:v>
                </c:pt>
                <c:pt idx="80">
                  <c:v>0.988</c:v>
                </c:pt>
                <c:pt idx="81">
                  <c:v>1</c:v>
                </c:pt>
              </c:numCache>
            </c:numRef>
          </c:xVal>
          <c:yVal>
            <c:numRef>
              <c:f>Sheet1!$C$2:$C$83</c:f>
              <c:numCache>
                <c:formatCode>General</c:formatCode>
                <c:ptCount val="82"/>
                <c:pt idx="0">
                  <c:v>45.1</c:v>
                </c:pt>
                <c:pt idx="1">
                  <c:v>45.1</c:v>
                </c:pt>
                <c:pt idx="2">
                  <c:v>45.1</c:v>
                </c:pt>
                <c:pt idx="3">
                  <c:v>45.1</c:v>
                </c:pt>
                <c:pt idx="4">
                  <c:v>45.1</c:v>
                </c:pt>
                <c:pt idx="5">
                  <c:v>45.1</c:v>
                </c:pt>
                <c:pt idx="6">
                  <c:v>45.1</c:v>
                </c:pt>
                <c:pt idx="7">
                  <c:v>45.1</c:v>
                </c:pt>
                <c:pt idx="8">
                  <c:v>45.1</c:v>
                </c:pt>
                <c:pt idx="9">
                  <c:v>45.1</c:v>
                </c:pt>
                <c:pt idx="10">
                  <c:v>45.1</c:v>
                </c:pt>
                <c:pt idx="11">
                  <c:v>45.1</c:v>
                </c:pt>
                <c:pt idx="12">
                  <c:v>45.1</c:v>
                </c:pt>
                <c:pt idx="13">
                  <c:v>45.1</c:v>
                </c:pt>
                <c:pt idx="14">
                  <c:v>45.1</c:v>
                </c:pt>
                <c:pt idx="15">
                  <c:v>45.1</c:v>
                </c:pt>
                <c:pt idx="16">
                  <c:v>45.1</c:v>
                </c:pt>
                <c:pt idx="17">
                  <c:v>45.1</c:v>
                </c:pt>
                <c:pt idx="18">
                  <c:v>45.1</c:v>
                </c:pt>
                <c:pt idx="19">
                  <c:v>45.1</c:v>
                </c:pt>
                <c:pt idx="20">
                  <c:v>45.1</c:v>
                </c:pt>
                <c:pt idx="21">
                  <c:v>45.1</c:v>
                </c:pt>
                <c:pt idx="22">
                  <c:v>45.1</c:v>
                </c:pt>
                <c:pt idx="23">
                  <c:v>45.1</c:v>
                </c:pt>
                <c:pt idx="24">
                  <c:v>45.1</c:v>
                </c:pt>
                <c:pt idx="25">
                  <c:v>45.1</c:v>
                </c:pt>
                <c:pt idx="26">
                  <c:v>45.1</c:v>
                </c:pt>
                <c:pt idx="27">
                  <c:v>45.1</c:v>
                </c:pt>
                <c:pt idx="28">
                  <c:v>45.1</c:v>
                </c:pt>
                <c:pt idx="29">
                  <c:v>45.1</c:v>
                </c:pt>
                <c:pt idx="30">
                  <c:v>45.1</c:v>
                </c:pt>
                <c:pt idx="31">
                  <c:v>45.1</c:v>
                </c:pt>
                <c:pt idx="32">
                  <c:v>45.1</c:v>
                </c:pt>
                <c:pt idx="33">
                  <c:v>45.1</c:v>
                </c:pt>
                <c:pt idx="34">
                  <c:v>45.1</c:v>
                </c:pt>
                <c:pt idx="35">
                  <c:v>45.1</c:v>
                </c:pt>
                <c:pt idx="36">
                  <c:v>45.1</c:v>
                </c:pt>
                <c:pt idx="37">
                  <c:v>45.1</c:v>
                </c:pt>
                <c:pt idx="38">
                  <c:v>45.1</c:v>
                </c:pt>
                <c:pt idx="39">
                  <c:v>45.1</c:v>
                </c:pt>
                <c:pt idx="40">
                  <c:v>45.1</c:v>
                </c:pt>
                <c:pt idx="41">
                  <c:v>45.1</c:v>
                </c:pt>
                <c:pt idx="42">
                  <c:v>45.1</c:v>
                </c:pt>
                <c:pt idx="43">
                  <c:v>45.1</c:v>
                </c:pt>
                <c:pt idx="44">
                  <c:v>45.1</c:v>
                </c:pt>
                <c:pt idx="45">
                  <c:v>45.1</c:v>
                </c:pt>
                <c:pt idx="46">
                  <c:v>45.1</c:v>
                </c:pt>
                <c:pt idx="47">
                  <c:v>45.1</c:v>
                </c:pt>
                <c:pt idx="48">
                  <c:v>45.1</c:v>
                </c:pt>
                <c:pt idx="49">
                  <c:v>45.1</c:v>
                </c:pt>
                <c:pt idx="50">
                  <c:v>45.1</c:v>
                </c:pt>
                <c:pt idx="51">
                  <c:v>45.1</c:v>
                </c:pt>
                <c:pt idx="52">
                  <c:v>45.1</c:v>
                </c:pt>
                <c:pt idx="53">
                  <c:v>45.1</c:v>
                </c:pt>
                <c:pt idx="54">
                  <c:v>45.1</c:v>
                </c:pt>
                <c:pt idx="55">
                  <c:v>45.1</c:v>
                </c:pt>
                <c:pt idx="56">
                  <c:v>45.1</c:v>
                </c:pt>
                <c:pt idx="57">
                  <c:v>45.1</c:v>
                </c:pt>
                <c:pt idx="58">
                  <c:v>45.1</c:v>
                </c:pt>
                <c:pt idx="59">
                  <c:v>45.1</c:v>
                </c:pt>
                <c:pt idx="60">
                  <c:v>45.1</c:v>
                </c:pt>
                <c:pt idx="61">
                  <c:v>45.1</c:v>
                </c:pt>
                <c:pt idx="62">
                  <c:v>45.1</c:v>
                </c:pt>
                <c:pt idx="63">
                  <c:v>45.1</c:v>
                </c:pt>
                <c:pt idx="64">
                  <c:v>45.1</c:v>
                </c:pt>
                <c:pt idx="65">
                  <c:v>45.1</c:v>
                </c:pt>
                <c:pt idx="66">
                  <c:v>45.1</c:v>
                </c:pt>
                <c:pt idx="67">
                  <c:v>45.1</c:v>
                </c:pt>
                <c:pt idx="68">
                  <c:v>45.1</c:v>
                </c:pt>
                <c:pt idx="69">
                  <c:v>45.1</c:v>
                </c:pt>
                <c:pt idx="70">
                  <c:v>45.1</c:v>
                </c:pt>
                <c:pt idx="71">
                  <c:v>45.1</c:v>
                </c:pt>
                <c:pt idx="72">
                  <c:v>45.1</c:v>
                </c:pt>
                <c:pt idx="73">
                  <c:v>45.1</c:v>
                </c:pt>
                <c:pt idx="74">
                  <c:v>45.1</c:v>
                </c:pt>
                <c:pt idx="75">
                  <c:v>45.1</c:v>
                </c:pt>
                <c:pt idx="76">
                  <c:v>45.1</c:v>
                </c:pt>
                <c:pt idx="77">
                  <c:v>45.1</c:v>
                </c:pt>
                <c:pt idx="78">
                  <c:v>45.1</c:v>
                </c:pt>
                <c:pt idx="79">
                  <c:v>45.1</c:v>
                </c:pt>
                <c:pt idx="80">
                  <c:v>45.1</c:v>
                </c:pt>
                <c:pt idx="81">
                  <c:v>45.1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900" b="0" i="0" u="none" strike="noStrike">
                    <a:solidFill>
                      <a:srgbClr val="5B6472"/>
                    </a:solidFill>
                    <a:latin typeface="+mn-lt"/>
                  </a:defRPr>
                </a:pPr>
                <a:r>
                  <a:rPr sz="900" b="0" i="0" u="none" strike="noStrike">
                    <a:solidFill>
                      <a:srgbClr val="5B6472"/>
                    </a:solidFill>
                    <a:latin typeface="+mn-lt"/>
                  </a:rPr>
                  <a:t>Share of questions answered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valAx>
      <c:valAx>
        <c:axId val="2094734552"/>
        <c:scaling>
          <c:orientation val="minMax"/>
          <c:max val="60"/>
          <c:min val="0"/>
        </c:scaling>
        <c:delete val="0"/>
        <c:axPos val="l"/>
        <c:majorGridlines>
          <c:spPr>
            <a:ln w="6350" cap="flat">
              <a:solidFill>
                <a:srgbClr val="E6E6E6"/>
              </a:solidFill>
              <a:prstDash val="solid"/>
              <a:round/>
            </a:ln>
          </c:spPr>
        </c:majorGridlines>
        <c:title>
          <c:tx>
            <c:rich>
              <a:bodyPr/>
              <a:lstStyle/>
              <a:p>
                <a:pPr>
                  <a:defRPr sz="900" b="0" i="0" u="none" strike="noStrike">
                    <a:solidFill>
                      <a:srgbClr val="5B6472"/>
                    </a:solidFill>
                    <a:latin typeface="+mn-lt"/>
                  </a:defRPr>
                </a:pPr>
                <a:r>
                  <a:rPr sz="900" b="0" i="0" u="none" strike="noStrike">
                    <a:solidFill>
                      <a:srgbClr val="5B6472"/>
                    </a:solidFill>
                    <a:latin typeface="+mn-lt"/>
                  </a:rPr>
                  <a:t>Wrong among answered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900">
              <a:solidFill>
                <a:srgbClr val="1E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430"/>
                </a:solidFill>
                <a:latin typeface="+mn-lt"/>
              </a:defRPr>
            </a:pPr>
            <a:r>
              <a:rPr sz="1100" b="0" i="0" u="none" strike="noStrike">
                <a:solidFill>
                  <a:srgbClr val="1E2430"/>
                </a:solidFill>
                <a:latin typeface="+mn-lt"/>
              </a:rPr>
              <a:t>Confidence minus actual accuracy, region held out (points)</a:t>
            </a:r>
          </a:p>
        </c:rich>
      </c:tx>
      <c:layout/>
      <c:overlay val="0"/>
    </c:title>
    <c:autoTitleDeleted val="0"/>
    <c:plotArea>
      <c:layout/>
      <c:barChart>
        <c:barDir val="bar"/>
        <c:grouping val="clustered"/>
        <c:varyColors val="0"/>
        <c:ser>
          <c:idx val="0"/>
          <c:order val="0"/>
          <c:tx>
            <c:strRef>
              <c:f>Sheet1!$B$1</c:f>
              <c:strCache>
                <c:ptCount val="1"/>
                <c:pt idx="0">
                  <c:v>Over-confidence (points)</c:v>
                </c:pt>
              </c:strCache>
            </c:strRef>
          </c:tx>
          <c:spPr>
            <a:solidFill>
              <a:srgbClr val="D9822B"/>
            </a:solidFill>
            <a:effectLst/>
          </c:spPr>
          <c:invertIfNegative val="0"/>
          <c:dLbls>
            <c:numFmt formatCode="+0;-0;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D9822B"/>
              </a:solidFill>
              <a:effectLst/>
            </c:spPr>
          </c:dPt>
          <c:dPt>
            <c:idx val="2"/>
            <c:invertIfNegative val="0"/>
            <c:bubble3D val="0"/>
            <c:spPr>
              <a:solidFill>
                <a:srgbClr val="D9822B"/>
              </a:solidFill>
              <a:effectLst/>
            </c:spPr>
          </c:dPt>
          <c:dPt>
            <c:idx val="3"/>
            <c:invertIfNegative val="0"/>
            <c:bubble3D val="0"/>
            <c:spPr>
              <a:solidFill>
                <a:srgbClr val="1F5A99"/>
              </a:solidFill>
              <a:effectLst/>
            </c:spPr>
          </c:dPt>
          <c:dPt>
            <c:idx val="4"/>
            <c:invertIfNegative val="0"/>
            <c:bubble3D val="0"/>
            <c:spPr>
              <a:solidFill>
                <a:srgbClr val="1F5A99"/>
              </a:solidFill>
              <a:effectLst/>
            </c:spPr>
          </c:dPt>
          <c:dPt>
            <c:idx val="5"/>
            <c:invertIfNegative val="0"/>
            <c:bubble3D val="0"/>
            <c:spPr>
              <a:solidFill>
                <a:srgbClr val="1F5A99"/>
              </a:solidFill>
              <a:effectLst/>
            </c:spPr>
          </c:dPt>
          <c:dPt>
            <c:idx val="6"/>
            <c:invertIfNegative val="0"/>
            <c:bubble3D val="0"/>
            <c:spPr>
              <a:solidFill>
                <a:srgbClr val="1F5A99"/>
              </a:solidFill>
              <a:effectLst/>
            </c:spPr>
          </c:dPt>
          <c:dPt>
            <c:idx val="7"/>
            <c:invertIfNegative val="0"/>
            <c:bubble3D val="0"/>
            <c:spPr>
              <a:solidFill>
                <a:srgbClr val="1F5A99"/>
              </a:solidFill>
              <a:effectLst/>
            </c:spPr>
          </c:dPt>
          <c:dPt>
            <c:idx val="8"/>
            <c:invertIfNegative val="0"/>
            <c:bubble3D val="0"/>
            <c:spPr>
              <a:solidFill>
                <a:srgbClr val="1F5A99"/>
              </a:solidFill>
              <a:effectLst/>
            </c:spPr>
          </c:dPt>
          <c:dPt>
            <c:idx val="9"/>
            <c:invertIfNegative val="0"/>
            <c:bubble3D val="0"/>
            <c:spPr>
              <a:solidFill>
                <a:srgbClr val="1F5A99"/>
              </a:solidFill>
              <a:effectLst/>
            </c:spPr>
          </c:dPt>
          <c:dPt>
            <c:idx val="10"/>
            <c:invertIfNegative val="0"/>
            <c:bubble3D val="0"/>
            <c:spPr>
              <a:solidFill>
                <a:srgbClr val="1F5A99"/>
              </a:solidFill>
              <a:effectLst/>
            </c:spPr>
          </c:dPt>
          <c:cat>
            <c:multiLvlStrRef>
              <c:f>Sheet1!$A$2:$A$12</c:f>
              <c:multiLvlStrCache>
                <c:ptCount val="11"/>
                <c:lvl>
                  <c:pt idx="0">
                    <c:v>Pakistan</c:v>
                  </c:pt>
                  <c:pt idx="1">
                    <c:v>India</c:v>
                  </c:pt>
                  <c:pt idx="2">
                    <c:v>Sri-Lanka</c:v>
                  </c:pt>
                  <c:pt idx="3">
                    <c:v>Somalia</c:v>
                  </c:pt>
                  <c:pt idx="4">
                    <c:v>Nigeria</c:v>
                  </c:pt>
                  <c:pt idx="5">
                    <c:v>Paraguay</c:v>
                  </c:pt>
                  <c:pt idx="6">
                    <c:v>Mekong</c:v>
                  </c:pt>
                  <c:pt idx="7">
                    <c:v>Bolivia</c:v>
                  </c:pt>
                  <c:pt idx="8">
                    <c:v>Spain</c:v>
                  </c:pt>
                  <c:pt idx="9">
                    <c:v>Ghana</c:v>
                  </c:pt>
                  <c:pt idx="10">
                    <c:v>USA</c:v>
                  </c:pt>
                </c:lvl>
              </c:multiLvlStrCache>
            </c:multiLvlStrRef>
          </c:cat>
          <c:val>
            <c:numRef>
              <c:f>Sheet1!$B$2:$B$12</c:f>
              <c:numCache>
                <c:formatCode>General</c:formatCode>
                <c:ptCount val="11"/>
                <c:pt idx="0">
                  <c:v>29</c:v>
                </c:pt>
                <c:pt idx="1">
                  <c:v>20</c:v>
                </c:pt>
                <c:pt idx="2">
                  <c:v>10</c:v>
                </c:pt>
                <c:pt idx="3">
                  <c:v>7</c:v>
                </c:pt>
                <c:pt idx="4">
                  <c:v>5</c:v>
                </c:pt>
                <c:pt idx="5">
                  <c:v>-2</c:v>
                </c:pt>
                <c:pt idx="6">
                  <c:v>-3</c:v>
                </c:pt>
                <c:pt idx="7">
                  <c:v>-4</c:v>
                </c:pt>
                <c:pt idx="8">
                  <c:v>-7</c:v>
                </c:pt>
                <c:pt idx="9">
                  <c:v>-13</c:v>
                </c:pt>
                <c:pt idx="10">
                  <c:v>-31</c:v>
                </c:pt>
              </c:numCache>
            </c:numRef>
          </c:val>
        </c:ser>
        <c:dLbls>
          <c:numFmt formatCode="+0;-0;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catAx>
      <c:valAx>
        <c:axId val="2094734552"/>
        <c:scaling>
          <c:orientation val="minMax"/>
          <c:max val="40"/>
          <c:min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EvidEO in one line: plain-language flood questions answered with measured, checkable evidence, or an honest refusal. The map on the right is a real run on the Sentinel-1 pass over Barpeta on 11 July 2024. Note: that water figure includes the river and permanent wetlands; it is water extent, not verified flood extent.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Whose problem: district officials, insurance officers, fact-checkers. Why it lasts: questions are local and constant, answers are produced centrally; the skills gap is about tenfold; monsoon clouds return every year. Why chat AI does not fix it: it is fluent but cannot locate what you asked about, and it never tells you when to distrust it. Chart values are read from each paper's tables; benchmarks differ, so compare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flip: in chat assistants the model produces the answer. In EvidEO a transparent instrument measures, a calibration fitted on hand-labelled flood chips turns its score into a probability, and the card is published only at 0.60 or above. Below that it says so and offers the next useful question. Both cards on this slide are from real runs on live Sentinel-1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answering, 45% of area answers on held-out chips are wrong. Publishing only at calibrated confidence 0.60 or above, EvidEO answers 43% of questions and 26% of those are wrong (95% bootstrap interval 12 to 41%). We are clear that the detector is not better than published baselines: per-chip IoU 0.362 vs 0.359 for Otsu in the Sen1Floods11 paper. The contribution is how answers are gated, receipted and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we think matters beyond our system. Leave one flood event out, fit the calibration on the rest, and test on the held-out event. All three South Asian events are over-confident; the USA is under-confident. Any assistant that states a confidence without local calibration has this problem. Refitting only the intercept on eight labelled Indian chips removes the over-confidence and cuts wrong published answers from 55% to 28%, but the honest system then answers only about 13% of Indian questions. Limitation: the 64 Indian chips come from one Sen1Floods11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every ingredient exists somewhere, but no system in our 225-paper archive delivers more than two of these six together, and none tells a non-expert when not to trust an answer. The bottleneck we found is local labels and instrument quality, not bigger language models. Next: improve the instrument, gather Indian labels across events, run a small user study, and submit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543800" y="182880"/>
            <a:ext cx="731520" cy="384048"/>
          </a:xfrm>
          <a:prstGeom prst="rect">
            <a:avLst/>
          </a:prstGeom>
          <a:noFill/>
          <a:ln/>
        </p:spPr>
        <p:txBody>
          <a:bodyPr wrap="square" lIns="0" tIns="0" rIns="0" bIns="0" rtlCol="0" anchor="ctr"/>
          <a:lstStyle/>
          <a:p>
            <a:pPr algn="r" indent="0" marL="0">
              <a:buNone/>
            </a:pPr>
            <a:r>
              <a:rPr lang="en-US" sz="1800" b="1" dirty="0">
                <a:solidFill>
                  <a:schemeClr val="accent1"/>
                </a:solidFill>
                <a:latin typeface="Calibri" pitchFamily="34" charset="0"/>
                <a:ea typeface="Calibri" pitchFamily="34" charset="-122"/>
                <a:cs typeface="Calibri" pitchFamily="34" charset="-120"/>
              </a:rPr>
              <a:t>Evid</a:t>
            </a:r>
            <a:endParaRPr lang="en-US" sz="1800" dirty="0"/>
          </a:p>
        </p:txBody>
      </p:sp>
      <p:sp>
        <p:nvSpPr>
          <p:cNvPr id="3" name="Text 1"/>
          <p:cNvSpPr/>
          <p:nvPr/>
        </p:nvSpPr>
        <p:spPr>
          <a:xfrm>
            <a:off x="8275320" y="182880"/>
            <a:ext cx="594360" cy="384048"/>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EO</a:t>
            </a:r>
            <a:endParaRPr lang="en-US" sz="1800" dirty="0"/>
          </a:p>
        </p:txBody>
      </p:sp>
      <p:sp>
        <p:nvSpPr>
          <p:cNvPr id="4" name="Shape 2"/>
          <p:cNvSpPr/>
          <p:nvPr/>
        </p:nvSpPr>
        <p:spPr>
          <a:xfrm>
            <a:off x="0" y="4846320"/>
            <a:ext cx="9144000" cy="297180"/>
          </a:xfrm>
          <a:prstGeom prst="rect">
            <a:avLst/>
          </a:prstGeom>
          <a:solidFill>
            <a:schemeClr val="accent1"/>
          </a:solidFill>
          <a:ln/>
        </p:spPr>
      </p:sp>
      <p:sp>
        <p:nvSpPr>
          <p:cNvPr id="5" name="Text 3"/>
          <p:cNvSpPr/>
          <p:nvPr/>
        </p:nvSpPr>
        <p:spPr>
          <a:xfrm>
            <a:off x="274320" y="4846320"/>
            <a:ext cx="6400800" cy="297180"/>
          </a:xfrm>
          <a:prstGeom prst="rect">
            <a:avLst/>
          </a:prstGeom>
          <a:noFill/>
          <a:ln/>
        </p:spPr>
        <p:txBody>
          <a:bodyPr wrap="square" lIns="0" tIns="0" rIns="0" bIns="0" rtlCol="0" anchor="ctr"/>
          <a:lstStyle/>
          <a:p>
            <a:pPr indent="0" marL="0">
              <a:buNone/>
            </a:pPr>
            <a:r>
              <a:rPr lang="en-US" sz="1000" dirty="0">
                <a:solidFill>
                  <a:schemeClr val="bg1"/>
                </a:solidFill>
              </a:rPr>
              <a:t>EvidEO  |  measured satellite answers you can check</a:t>
            </a:r>
            <a:endParaRPr lang="en-US" sz="1000" dirty="0"/>
          </a:p>
        </p:txBody>
      </p:sp>
      <p:sp>
        <p:nvSpPr>
          <p:cNvPr id="6" name="Text 4"/>
          <p:cNvSpPr/>
          <p:nvPr>
            <p:ph idx="104" type="title" hasCustomPrompt="1"/>
          </p:nvPr>
        </p:nvSpPr>
        <p:spPr>
          <a:xfrm>
            <a:off x="1463040" y="128016"/>
            <a:ext cx="6035040" cy="512064"/>
          </a:xfrm>
          <a:prstGeom prst="rect">
            <a:avLst/>
          </a:prstGeom>
          <a:noFill/>
          <a:ln/>
        </p:spPr>
        <p:txBody>
          <a:bodyPr wrap="square" rtlCol="0"/>
          <a:lstStyle>
            <a:lvl1pPr algn="ctr" indent="0" marL="0">
              <a:buNone/>
              <a:defRPr lang="en-US" sz="2600" b="1" dirty="0">
                <a:solidFill>
                  <a:schemeClr val="tx1"/>
                </a:solidFill>
                <a:latin typeface="Times New Roman" pitchFamily="34" charset="0"/>
                <a:ea typeface="Times New Roman" pitchFamily="34" charset="-122"/>
                <a:cs typeface="Times New Roman" pitchFamily="34" charset="-120"/>
              </a:defRPr>
            </a:lvl1pPr>
          </a:lstStyle>
          <a:p>
            <a:pPr algn="ctr" indent="0" marL="0">
              <a:buNone/>
            </a:pPr>
            <a:endParaRPr lang="en-US" sz="26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chemeClr val="accent1"/>
          </a:solidFill>
          <a:ln/>
        </p:spPr>
      </p:sp>
      <p:sp>
        <p:nvSpPr>
          <p:cNvPr id="3" name="Text 1"/>
          <p:cNvSpPr/>
          <p:nvPr/>
        </p:nvSpPr>
        <p:spPr>
          <a:xfrm>
            <a:off x="274320" y="4846320"/>
            <a:ext cx="7315200" cy="297180"/>
          </a:xfrm>
          <a:prstGeom prst="rect">
            <a:avLst/>
          </a:prstGeom>
          <a:noFill/>
          <a:ln/>
        </p:spPr>
        <p:txBody>
          <a:bodyPr wrap="square" lIns="0" tIns="0" rIns="0" bIns="0" rtlCol="0" anchor="ctr"/>
          <a:lstStyle/>
          <a:p>
            <a:pPr indent="0" marL="0">
              <a:buNone/>
            </a:pPr>
            <a:r>
              <a:rPr lang="en-US" sz="1000" dirty="0">
                <a:solidFill>
                  <a:schemeClr val="bg1"/>
                </a:solidFill>
              </a:rPr>
              <a:t>Team Stardust  |  RV Institute of Technology and Management, Bengaluru</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rpeta map" descr="EvidEO map of Sentinel-1 water over Barpeta district, 11 July 2024">    </p:cNvPr>
          <p:cNvPicPr>
            <a:picLocks noChangeAspect="1"/>
          </p:cNvPicPr>
          <p:nvPr/>
        </p:nvPicPr>
        <p:blipFill>
          <a:blip r:embed="rId1"/>
          <a:stretch>
            <a:fillRect/>
          </a:stretch>
        </p:blipFill>
        <p:spPr>
          <a:xfrm>
            <a:off x="5257800" y="411480"/>
            <a:ext cx="3520440" cy="3776472"/>
          </a:xfrm>
          <a:prstGeom prst="rect">
            <a:avLst/>
          </a:prstGeom>
        </p:spPr>
      </p:pic>
      <p:sp>
        <p:nvSpPr>
          <p:cNvPr id="3" name="Shape 0"/>
          <p:cNvSpPr/>
          <p:nvPr/>
        </p:nvSpPr>
        <p:spPr>
          <a:xfrm>
            <a:off x="457200" y="457200"/>
            <a:ext cx="1051560" cy="384048"/>
          </a:xfrm>
          <a:prstGeom prst="roundRect">
            <a:avLst>
              <a:gd name="adj" fmla="val 50000"/>
            </a:avLst>
          </a:prstGeom>
          <a:solidFill>
            <a:schemeClr val="bg1"/>
          </a:solidFill>
          <a:ln w="15875">
            <a:solidFill>
              <a:schemeClr val="accent1"/>
            </a:solidFill>
            <a:prstDash val="solid"/>
          </a:ln>
        </p:spPr>
      </p:sp>
      <p:sp>
        <p:nvSpPr>
          <p:cNvPr id="4" name="Text 1"/>
          <p:cNvSpPr txBox="1"/>
          <p:nvPr/>
        </p:nvSpPr>
        <p:spPr>
          <a:xfrm>
            <a:off x="457200" y="45720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5" name="Text 2"/>
          <p:cNvSpPr txBox="1"/>
          <p:nvPr/>
        </p:nvSpPr>
        <p:spPr>
          <a:xfrm>
            <a:off x="457200" y="1051560"/>
            <a:ext cx="4572000" cy="822960"/>
          </a:xfrm>
          <a:prstGeom prst="rect">
            <a:avLst/>
          </a:prstGeom>
          <a:noFill/>
          <a:ln/>
        </p:spPr>
        <p:txBody>
          <a:bodyPr wrap="square" lIns="0" tIns="0" rIns="0" bIns="0" rtlCol="0" anchor="ctr"/>
          <a:lstStyle/>
          <a:p>
            <a:pPr indent="0" marL="0">
              <a:buNone/>
            </a:pPr>
            <a:r>
              <a:rPr lang="en-US" sz="4800" b="1" dirty="0">
                <a:solidFill>
                  <a:schemeClr val="accent1"/>
                </a:solidFill>
                <a:latin typeface="Times New Roman" pitchFamily="34" charset="0"/>
                <a:ea typeface="Times New Roman" pitchFamily="34" charset="-122"/>
                <a:cs typeface="Times New Roman" pitchFamily="34" charset="-120"/>
              </a:rPr>
              <a:t>Evid</a:t>
            </a:r>
            <a:pPr indent="0" marL="0">
              <a:buNone/>
            </a:pPr>
            <a:r>
              <a:rPr lang="en-US" sz="4800" b="1" dirty="0">
                <a:solidFill>
                  <a:schemeClr val="accent2"/>
                </a:solidFill>
                <a:latin typeface="Times New Roman" pitchFamily="34" charset="0"/>
                <a:ea typeface="Times New Roman" pitchFamily="34" charset="-122"/>
                <a:cs typeface="Times New Roman" pitchFamily="34" charset="-120"/>
              </a:rPr>
              <a:t>EO</a:t>
            </a:r>
            <a:endParaRPr lang="en-US" sz="4800" dirty="0"/>
          </a:p>
        </p:txBody>
      </p:sp>
      <p:sp>
        <p:nvSpPr>
          <p:cNvPr id="6" name="Text 3"/>
          <p:cNvSpPr txBox="1"/>
          <p:nvPr/>
        </p:nvSpPr>
        <p:spPr>
          <a:xfrm>
            <a:off x="457200" y="1874520"/>
            <a:ext cx="4663440" cy="457200"/>
          </a:xfrm>
          <a:prstGeom prst="rect">
            <a:avLst/>
          </a:prstGeom>
          <a:noFill/>
          <a:ln/>
        </p:spPr>
        <p:txBody>
          <a:bodyPr wrap="square" lIns="0" tIns="0" rIns="0" bIns="0" rtlCol="0" anchor="ctr"/>
          <a:lstStyle/>
          <a:p>
            <a:pPr indent="0" marL="0">
              <a:buNone/>
            </a:pPr>
            <a:r>
              <a:rPr lang="en-US" sz="2200" dirty="0">
                <a:solidFill>
                  <a:schemeClr val="tx1"/>
                </a:solidFill>
                <a:latin typeface="Times New Roman" pitchFamily="34" charset="0"/>
                <a:ea typeface="Times New Roman" pitchFamily="34" charset="-122"/>
                <a:cs typeface="Times New Roman" pitchFamily="34" charset="-120"/>
              </a:rPr>
              <a:t>Evidence first, or no answer</a:t>
            </a:r>
            <a:endParaRPr lang="en-US" sz="2200" dirty="0"/>
          </a:p>
        </p:txBody>
      </p:sp>
      <p:sp>
        <p:nvSpPr>
          <p:cNvPr id="7" name="Text 4"/>
          <p:cNvSpPr txBox="1"/>
          <p:nvPr/>
        </p:nvSpPr>
        <p:spPr>
          <a:xfrm>
            <a:off x="457200" y="2468880"/>
            <a:ext cx="4572000" cy="960120"/>
          </a:xfrm>
          <a:prstGeom prst="rect">
            <a:avLst/>
          </a:prstGeom>
          <a:noFill/>
          <a:ln/>
        </p:spPr>
        <p:txBody>
          <a:bodyPr wrap="square" lIns="0" tIns="0" rIns="0" bIns="0" rtlCol="0" anchor="t"/>
          <a:lstStyle/>
          <a:p>
            <a:pPr indent="0" marL="0">
              <a:buNone/>
            </a:pPr>
            <a:r>
              <a:rPr lang="en-US" sz="1400" dirty="0">
                <a:solidFill>
                  <a:srgbClr val="5B6472"/>
                </a:solidFill>
              </a:rPr>
              <a:t>Ask about floods in any Indian district in plain words. Get an area measured from the actual Sentinel-1 radar pass, with scene, date, map and a calibrated confidence, or an honest "not enough evidence".</a:t>
            </a:r>
            <a:endParaRPr lang="en-US" sz="1400" dirty="0"/>
          </a:p>
        </p:txBody>
      </p:sp>
      <p:sp>
        <p:nvSpPr>
          <p:cNvPr id="8" name="Text 5"/>
          <p:cNvSpPr txBox="1"/>
          <p:nvPr/>
        </p:nvSpPr>
        <p:spPr>
          <a:xfrm>
            <a:off x="457200" y="3794760"/>
            <a:ext cx="4572000" cy="548640"/>
          </a:xfrm>
          <a:prstGeom prst="rect">
            <a:avLst/>
          </a:prstGeom>
          <a:noFill/>
          <a:ln/>
        </p:spPr>
        <p:txBody>
          <a:bodyPr wrap="square" lIns="0" tIns="0" rIns="0" bIns="0" rtlCol="0" anchor="ctr"/>
          <a:lstStyle/>
          <a:p>
            <a:pPr indent="0" marL="0">
              <a:buNone/>
            </a:pPr>
            <a:r>
              <a:rPr lang="en-US" sz="1100" dirty="0">
                <a:solidFill>
                  <a:schemeClr val="tx1"/>
                </a:solidFill>
              </a:rPr>
              <a:t>Sai Bhuwan S  ·  Yashita Mandavilli  ·  Raj Venkat  ·  Nikhil S Rao  ·  Shashwat Mittal  ·  Sasanuru Anirudh</a:t>
            </a:r>
            <a:endParaRPr lang="en-US" sz="1100" dirty="0"/>
          </a:p>
        </p:txBody>
      </p:sp>
      <p:sp>
        <p:nvSpPr>
          <p:cNvPr id="9" name="Text 6"/>
          <p:cNvSpPr txBox="1"/>
          <p:nvPr/>
        </p:nvSpPr>
        <p:spPr>
          <a:xfrm>
            <a:off x="5257800" y="4224528"/>
            <a:ext cx="3520440" cy="274320"/>
          </a:xfrm>
          <a:prstGeom prst="rect">
            <a:avLst/>
          </a:prstGeom>
          <a:noFill/>
          <a:ln/>
        </p:spPr>
        <p:txBody>
          <a:bodyPr wrap="square" lIns="0" tIns="0" rIns="0" bIns="0" rtlCol="0" anchor="ctr"/>
          <a:lstStyle/>
          <a:p>
            <a:pPr algn="r" indent="0" marL="0">
              <a:buNone/>
            </a:pPr>
            <a:r>
              <a:rPr lang="en-US" sz="1000" dirty="0">
                <a:solidFill>
                  <a:srgbClr val="5B6472"/>
                </a:solidFill>
              </a:rPr>
              <a:t>Barpeta, Assam · Sentinel-1 · 11 Jul 2024 · live run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The Problem That Does Not Go Away</a:t>
            </a:r>
            <a:endParaRPr lang="en-US" sz="2600" dirty="0"/>
          </a:p>
        </p:txBody>
      </p:sp>
      <p:sp>
        <p:nvSpPr>
          <p:cNvPr id="5" name="Text 3"/>
          <p:cNvSpPr txBox="1"/>
          <p:nvPr/>
        </p:nvSpPr>
        <p:spPr>
          <a:xfrm>
            <a:off x="27432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WHO LOSES TIME TODAY</a:t>
            </a:r>
            <a:endParaRPr lang="en-US" sz="1400" dirty="0"/>
          </a:p>
        </p:txBody>
      </p:sp>
      <p:sp>
        <p:nvSpPr>
          <p:cNvPr id="6" name="Text 4"/>
          <p:cNvSpPr txBox="1"/>
          <p:nvPr/>
        </p:nvSpPr>
        <p:spPr>
          <a:xfrm>
            <a:off x="470916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WHY TODAY'S AI DOES NOT FIX IT</a:t>
            </a:r>
            <a:endParaRPr lang="en-US" sz="1400" dirty="0"/>
          </a:p>
        </p:txBody>
      </p:sp>
      <p:sp>
        <p:nvSpPr>
          <p:cNvPr id="7" name="Shape 5"/>
          <p:cNvSpPr/>
          <p:nvPr/>
        </p:nvSpPr>
        <p:spPr>
          <a:xfrm>
            <a:off x="4572000" y="777240"/>
            <a:ext cx="0" cy="3931920"/>
          </a:xfrm>
          <a:prstGeom prst="line">
            <a:avLst/>
          </a:prstGeom>
          <a:noFill/>
          <a:ln w="12700">
            <a:solidFill>
              <a:srgbClr val="1E2430"/>
            </a:solidFill>
            <a:prstDash val="solid"/>
          </a:ln>
        </p:spPr>
      </p:sp>
      <p:sp>
        <p:nvSpPr>
          <p:cNvPr id="8" name="Shape 6"/>
          <p:cNvSpPr/>
          <p:nvPr/>
        </p:nvSpPr>
        <p:spPr>
          <a:xfrm>
            <a:off x="320040" y="1188720"/>
            <a:ext cx="457200" cy="457200"/>
          </a:xfrm>
          <a:prstGeom prst="ellipse">
            <a:avLst/>
          </a:prstGeom>
          <a:solidFill>
            <a:schemeClr val="bg2"/>
          </a:solidFill>
          <a:ln w="12700">
            <a:solidFill>
              <a:schemeClr val="bg2"/>
            </a:solidFill>
            <a:prstDash val="solid"/>
          </a:ln>
        </p:spPr>
      </p:sp>
      <p:pic>
        <p:nvPicPr>
          <p:cNvPr id="9" name="Image 0" descr="preencoded.png">    </p:cNvPr>
          <p:cNvPicPr>
            <a:picLocks noChangeAspect="1"/>
          </p:cNvPicPr>
          <p:nvPr/>
        </p:nvPicPr>
        <p:blipFill>
          <a:blip r:embed="rId1"/>
          <a:stretch>
            <a:fillRect/>
          </a:stretch>
        </p:blipFill>
        <p:spPr>
          <a:xfrm>
            <a:off x="429768" y="1298448"/>
            <a:ext cx="237744" cy="237744"/>
          </a:xfrm>
          <a:prstGeom prst="rect">
            <a:avLst/>
          </a:prstGeom>
        </p:spPr>
      </p:pic>
      <p:sp>
        <p:nvSpPr>
          <p:cNvPr id="10" name="Text 7"/>
          <p:cNvSpPr txBox="1"/>
          <p:nvPr/>
        </p:nvSpPr>
        <p:spPr>
          <a:xfrm>
            <a:off x="914400" y="1143000"/>
            <a:ext cx="3520440" cy="246888"/>
          </a:xfrm>
          <a:prstGeom prst="rect">
            <a:avLst/>
          </a:prstGeom>
          <a:noFill/>
          <a:ln/>
        </p:spPr>
        <p:txBody>
          <a:bodyPr wrap="square" lIns="0" tIns="0" rIns="0" bIns="0" rtlCol="0" anchor="ctr"/>
          <a:lstStyle/>
          <a:p>
            <a:pPr indent="0" marL="0">
              <a:buNone/>
            </a:pPr>
            <a:r>
              <a:rPr lang="en-US" sz="1300" b="1" dirty="0">
                <a:solidFill>
                  <a:schemeClr val="tx1"/>
                </a:solidFill>
              </a:rPr>
              <a:t>District disaster officials</a:t>
            </a:r>
            <a:endParaRPr lang="en-US" sz="1300" dirty="0"/>
          </a:p>
        </p:txBody>
      </p:sp>
      <p:sp>
        <p:nvSpPr>
          <p:cNvPr id="11" name="Text 8"/>
          <p:cNvSpPr txBox="1"/>
          <p:nvPr/>
        </p:nvSpPr>
        <p:spPr>
          <a:xfrm>
            <a:off x="914400" y="1389888"/>
            <a:ext cx="3520440" cy="384048"/>
          </a:xfrm>
          <a:prstGeom prst="rect">
            <a:avLst/>
          </a:prstGeom>
          <a:noFill/>
          <a:ln/>
        </p:spPr>
        <p:txBody>
          <a:bodyPr wrap="square" lIns="0" tIns="0" rIns="0" bIns="0" rtlCol="0" anchor="t"/>
          <a:lstStyle/>
          <a:p>
            <a:pPr indent="0" marL="0">
              <a:buNone/>
            </a:pPr>
            <a:r>
              <a:rPr lang="en-US" sz="1100" dirty="0">
                <a:solidFill>
                  <a:srgbClr val="5B6472"/>
                </a:solidFill>
              </a:rPr>
              <a:t>Wait for central maps: about 300 flood products in 2024 for 700+ districts.</a:t>
            </a:r>
            <a:endParaRPr lang="en-US" sz="1100" dirty="0"/>
          </a:p>
        </p:txBody>
      </p:sp>
      <p:sp>
        <p:nvSpPr>
          <p:cNvPr id="12" name="Shape 9"/>
          <p:cNvSpPr/>
          <p:nvPr/>
        </p:nvSpPr>
        <p:spPr>
          <a:xfrm>
            <a:off x="320040" y="1901952"/>
            <a:ext cx="457200" cy="457200"/>
          </a:xfrm>
          <a:prstGeom prst="ellipse">
            <a:avLst/>
          </a:prstGeom>
          <a:solidFill>
            <a:schemeClr val="bg2"/>
          </a:solidFill>
          <a:ln w="12700">
            <a:solidFill>
              <a:schemeClr val="bg2"/>
            </a:solidFill>
            <a:prstDash val="solid"/>
          </a:ln>
        </p:spPr>
      </p:sp>
      <p:pic>
        <p:nvPicPr>
          <p:cNvPr id="13" name="Image 1" descr="preencoded.png">    </p:cNvPr>
          <p:cNvPicPr>
            <a:picLocks noChangeAspect="1"/>
          </p:cNvPicPr>
          <p:nvPr/>
        </p:nvPicPr>
        <p:blipFill>
          <a:blip r:embed="rId2"/>
          <a:stretch>
            <a:fillRect/>
          </a:stretch>
        </p:blipFill>
        <p:spPr>
          <a:xfrm>
            <a:off x="429768" y="2011680"/>
            <a:ext cx="237744" cy="237744"/>
          </a:xfrm>
          <a:prstGeom prst="rect">
            <a:avLst/>
          </a:prstGeom>
        </p:spPr>
      </p:pic>
      <p:sp>
        <p:nvSpPr>
          <p:cNvPr id="14" name="Text 10"/>
          <p:cNvSpPr txBox="1"/>
          <p:nvPr/>
        </p:nvSpPr>
        <p:spPr>
          <a:xfrm>
            <a:off x="914400" y="1856232"/>
            <a:ext cx="3520440" cy="246888"/>
          </a:xfrm>
          <a:prstGeom prst="rect">
            <a:avLst/>
          </a:prstGeom>
          <a:noFill/>
          <a:ln/>
        </p:spPr>
        <p:txBody>
          <a:bodyPr wrap="square" lIns="0" tIns="0" rIns="0" bIns="0" rtlCol="0" anchor="ctr"/>
          <a:lstStyle/>
          <a:p>
            <a:pPr indent="0" marL="0">
              <a:buNone/>
            </a:pPr>
            <a:r>
              <a:rPr lang="en-US" sz="1300" b="1" dirty="0">
                <a:solidFill>
                  <a:schemeClr val="tx1"/>
                </a:solidFill>
              </a:rPr>
              <a:t>Crop insurance officers</a:t>
            </a:r>
            <a:endParaRPr lang="en-US" sz="1300" dirty="0"/>
          </a:p>
        </p:txBody>
      </p:sp>
      <p:sp>
        <p:nvSpPr>
          <p:cNvPr id="15" name="Text 11"/>
          <p:cNvSpPr txBox="1"/>
          <p:nvPr/>
        </p:nvSpPr>
        <p:spPr>
          <a:xfrm>
            <a:off x="914400" y="2103120"/>
            <a:ext cx="3520440" cy="384048"/>
          </a:xfrm>
          <a:prstGeom prst="rect">
            <a:avLst/>
          </a:prstGeom>
          <a:noFill/>
          <a:ln/>
        </p:spPr>
        <p:txBody>
          <a:bodyPr wrap="square" lIns="0" tIns="0" rIns="0" bIns="0" rtlCol="0" anchor="t"/>
          <a:lstStyle/>
          <a:p>
            <a:pPr indent="0" marL="0">
              <a:buNone/>
            </a:pPr>
            <a:r>
              <a:rPr lang="en-US" sz="1100" dirty="0">
                <a:solidFill>
                  <a:srgbClr val="5B6472"/>
                </a:solidFill>
              </a:rPr>
              <a:t>Claims stay pending while yield data and satellite checks arrive late.</a:t>
            </a:r>
            <a:endParaRPr lang="en-US" sz="1100" dirty="0"/>
          </a:p>
        </p:txBody>
      </p:sp>
      <p:sp>
        <p:nvSpPr>
          <p:cNvPr id="16" name="Shape 12"/>
          <p:cNvSpPr/>
          <p:nvPr/>
        </p:nvSpPr>
        <p:spPr>
          <a:xfrm>
            <a:off x="320040" y="2615184"/>
            <a:ext cx="457200" cy="457200"/>
          </a:xfrm>
          <a:prstGeom prst="ellipse">
            <a:avLst/>
          </a:prstGeom>
          <a:solidFill>
            <a:schemeClr val="bg2"/>
          </a:solidFill>
          <a:ln w="12700">
            <a:solidFill>
              <a:schemeClr val="bg2"/>
            </a:solidFill>
            <a:prstDash val="solid"/>
          </a:ln>
        </p:spPr>
      </p:sp>
      <p:pic>
        <p:nvPicPr>
          <p:cNvPr id="17" name="Image 2" descr="preencoded.png">    </p:cNvPr>
          <p:cNvPicPr>
            <a:picLocks noChangeAspect="1"/>
          </p:cNvPicPr>
          <p:nvPr/>
        </p:nvPicPr>
        <p:blipFill>
          <a:blip r:embed="rId3"/>
          <a:stretch>
            <a:fillRect/>
          </a:stretch>
        </p:blipFill>
        <p:spPr>
          <a:xfrm>
            <a:off x="429768" y="2724912"/>
            <a:ext cx="237744" cy="237744"/>
          </a:xfrm>
          <a:prstGeom prst="rect">
            <a:avLst/>
          </a:prstGeom>
        </p:spPr>
      </p:pic>
      <p:sp>
        <p:nvSpPr>
          <p:cNvPr id="18" name="Text 13"/>
          <p:cNvSpPr txBox="1"/>
          <p:nvPr/>
        </p:nvSpPr>
        <p:spPr>
          <a:xfrm>
            <a:off x="914400" y="2569464"/>
            <a:ext cx="3520440" cy="246888"/>
          </a:xfrm>
          <a:prstGeom prst="rect">
            <a:avLst/>
          </a:prstGeom>
          <a:noFill/>
          <a:ln/>
        </p:spPr>
        <p:txBody>
          <a:bodyPr wrap="square" lIns="0" tIns="0" rIns="0" bIns="0" rtlCol="0" anchor="ctr"/>
          <a:lstStyle/>
          <a:p>
            <a:pPr indent="0" marL="0">
              <a:buNone/>
            </a:pPr>
            <a:r>
              <a:rPr lang="en-US" sz="1300" b="1" dirty="0">
                <a:solidFill>
                  <a:schemeClr val="tx1"/>
                </a:solidFill>
              </a:rPr>
              <a:t>Journalists, fact-checkers</a:t>
            </a:r>
            <a:endParaRPr lang="en-US" sz="1300" dirty="0"/>
          </a:p>
        </p:txBody>
      </p:sp>
      <p:sp>
        <p:nvSpPr>
          <p:cNvPr id="19" name="Text 14"/>
          <p:cNvSpPr txBox="1"/>
          <p:nvPr/>
        </p:nvSpPr>
        <p:spPr>
          <a:xfrm>
            <a:off x="914400" y="2816352"/>
            <a:ext cx="3520440" cy="384048"/>
          </a:xfrm>
          <a:prstGeom prst="rect">
            <a:avLst/>
          </a:prstGeom>
          <a:noFill/>
          <a:ln/>
        </p:spPr>
        <p:txBody>
          <a:bodyPr wrap="square" lIns="0" tIns="0" rIns="0" bIns="0" rtlCol="0" anchor="t"/>
          <a:lstStyle/>
          <a:p>
            <a:pPr indent="0" marL="0">
              <a:buNone/>
            </a:pPr>
            <a:r>
              <a:rPr lang="en-US" sz="1100" dirty="0">
                <a:solidFill>
                  <a:srgbClr val="5B6472"/>
                </a:solidFill>
              </a:rPr>
              <a:t>Free tools assume you know which sensor and band to use.</a:t>
            </a:r>
            <a:endParaRPr lang="en-US" sz="1100" dirty="0"/>
          </a:p>
        </p:txBody>
      </p:sp>
      <p:sp>
        <p:nvSpPr>
          <p:cNvPr id="20" name="stat 0"/>
          <p:cNvSpPr/>
          <p:nvPr/>
        </p:nvSpPr>
        <p:spPr>
          <a:xfrm>
            <a:off x="320040" y="3364992"/>
            <a:ext cx="1965960" cy="1298448"/>
          </a:xfrm>
          <a:prstGeom prst="rect">
            <a:avLst/>
          </a:prstGeom>
          <a:solidFill>
            <a:srgbClr val="EEF3F9"/>
          </a:solidFill>
          <a:ln w="12700">
            <a:solidFill>
              <a:srgbClr val="C9D3E0"/>
            </a:solidFill>
            <a:prstDash val="solid"/>
          </a:ln>
        </p:spPr>
      </p:sp>
      <p:sp>
        <p:nvSpPr>
          <p:cNvPr id="21" name="Text 16"/>
          <p:cNvSpPr txBox="1"/>
          <p:nvPr/>
        </p:nvSpPr>
        <p:spPr>
          <a:xfrm>
            <a:off x="411480" y="3410712"/>
            <a:ext cx="1783080" cy="54864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60%+</a:t>
            </a:r>
            <a:endParaRPr lang="en-US" sz="3000" dirty="0"/>
          </a:p>
        </p:txBody>
      </p:sp>
      <p:sp>
        <p:nvSpPr>
          <p:cNvPr id="22" name="Text 17"/>
          <p:cNvSpPr txBox="1"/>
          <p:nvPr/>
        </p:nvSpPr>
        <p:spPr>
          <a:xfrm>
            <a:off x="411480" y="3959352"/>
            <a:ext cx="1783080" cy="658368"/>
          </a:xfrm>
          <a:prstGeom prst="rect">
            <a:avLst/>
          </a:prstGeom>
          <a:noFill/>
          <a:ln/>
        </p:spPr>
        <p:txBody>
          <a:bodyPr wrap="square" lIns="0" tIns="0" rIns="0" bIns="0" rtlCol="0" anchor="t"/>
          <a:lstStyle/>
          <a:p>
            <a:pPr indent="0" marL="0">
              <a:buNone/>
            </a:pPr>
            <a:r>
              <a:rPr lang="en-US" sz="1100" dirty="0">
                <a:solidFill>
                  <a:schemeClr val="tx1"/>
                </a:solidFill>
              </a:rPr>
              <a:t>monsoon cloud cover over most of India</a:t>
            </a:r>
            <a:endParaRPr lang="en-US" sz="1100" dirty="0"/>
          </a:p>
        </p:txBody>
      </p:sp>
      <p:sp>
        <p:nvSpPr>
          <p:cNvPr id="23" name="stat 1"/>
          <p:cNvSpPr/>
          <p:nvPr/>
        </p:nvSpPr>
        <p:spPr>
          <a:xfrm>
            <a:off x="2423160" y="3364992"/>
            <a:ext cx="1965960" cy="1298448"/>
          </a:xfrm>
          <a:prstGeom prst="rect">
            <a:avLst/>
          </a:prstGeom>
          <a:solidFill>
            <a:srgbClr val="EEF3F9"/>
          </a:solidFill>
          <a:ln w="12700">
            <a:solidFill>
              <a:srgbClr val="C9D3E0"/>
            </a:solidFill>
            <a:prstDash val="solid"/>
          </a:ln>
        </p:spPr>
      </p:sp>
      <p:sp>
        <p:nvSpPr>
          <p:cNvPr id="24" name="Text 19"/>
          <p:cNvSpPr txBox="1"/>
          <p:nvPr/>
        </p:nvSpPr>
        <p:spPr>
          <a:xfrm>
            <a:off x="2514600" y="3410712"/>
            <a:ext cx="1783080" cy="54864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~10x</a:t>
            </a:r>
            <a:endParaRPr lang="en-US" sz="3000" dirty="0"/>
          </a:p>
        </p:txBody>
      </p:sp>
      <p:sp>
        <p:nvSpPr>
          <p:cNvPr id="25" name="Text 20"/>
          <p:cNvSpPr txBox="1"/>
          <p:nvPr/>
        </p:nvSpPr>
        <p:spPr>
          <a:xfrm>
            <a:off x="2514600" y="3959352"/>
            <a:ext cx="1783080" cy="658368"/>
          </a:xfrm>
          <a:prstGeom prst="rect">
            <a:avLst/>
          </a:prstGeom>
          <a:noFill/>
          <a:ln/>
        </p:spPr>
        <p:txBody>
          <a:bodyPr wrap="square" lIns="0" tIns="0" rIns="0" bIns="0" rtlCol="0" anchor="t"/>
          <a:lstStyle/>
          <a:p>
            <a:pPr indent="0" marL="0">
              <a:buNone/>
            </a:pPr>
            <a:r>
              <a:rPr lang="en-US" sz="1100" dirty="0">
                <a:solidFill>
                  <a:schemeClr val="tx1"/>
                </a:solidFill>
              </a:rPr>
              <a:t>gap: 25 to 50k trained GIS users vs 500k more needed</a:t>
            </a:r>
            <a:endParaRPr lang="en-US" sz="1100" dirty="0"/>
          </a:p>
        </p:txBody>
      </p:sp>
      <p:graphicFrame>
        <p:nvGraphicFramePr>
          <p:cNvPr id="26" name="grounding chart" descr=""/>
          <p:cNvGraphicFramePr/>
          <p:nvPr/>
        </p:nvGraphicFramePr>
        <p:xfrm>
          <a:off x="4709160" y="1097280"/>
          <a:ext cx="4160520" cy="2148840"/>
        </p:xfrm>
        <a:graphic xmlns:a="http://schemas.openxmlformats.org/drawingml/2006/main">
          <a:graphicData uri="http://schemas.openxmlformats.org/drawingml/2006/chart">
            <c:chart xmlns:c="http://schemas.openxmlformats.org/drawingml/2006/chart" r:id="rId4"/>
          </a:graphicData>
        </a:graphic>
      </p:graphicFrame>
      <p:sp>
        <p:nvSpPr>
          <p:cNvPr id="27" name="Text 21"/>
          <p:cNvSpPr txBox="1"/>
          <p:nvPr/>
        </p:nvSpPr>
        <p:spPr>
          <a:xfrm>
            <a:off x="4709160" y="3246120"/>
            <a:ext cx="4160520" cy="274320"/>
          </a:xfrm>
          <a:prstGeom prst="rect">
            <a:avLst/>
          </a:prstGeom>
          <a:noFill/>
          <a:ln/>
        </p:spPr>
        <p:txBody>
          <a:bodyPr wrap="square" lIns="0" tIns="0" rIns="0" bIns="0" rtlCol="0" anchor="ctr"/>
          <a:lstStyle/>
          <a:p>
            <a:pPr indent="0" marL="0">
              <a:buNone/>
            </a:pPr>
            <a:r>
              <a:rPr lang="en-US" sz="900" dirty="0">
                <a:solidFill>
                  <a:srgbClr val="5B6472"/>
                </a:solidFill>
              </a:rPr>
              <a:t>Sources: VLEO-Bench (GPT-4V, specialist), GEOBench-VLM (GPT-4o, EarthDial), GeoChat paper. Benchmarks differ.</a:t>
            </a:r>
            <a:endParaRPr lang="en-US" sz="900" dirty="0"/>
          </a:p>
        </p:txBody>
      </p:sp>
      <p:sp>
        <p:nvSpPr>
          <p:cNvPr id="28" name="hallucination box"/>
          <p:cNvSpPr/>
          <p:nvPr/>
        </p:nvSpPr>
        <p:spPr>
          <a:xfrm>
            <a:off x="4709160" y="3584448"/>
            <a:ext cx="4160520" cy="1078992"/>
          </a:xfrm>
          <a:prstGeom prst="rect">
            <a:avLst/>
          </a:prstGeom>
          <a:solidFill>
            <a:srgbClr val="F4E6D6"/>
          </a:solidFill>
          <a:ln w="12700">
            <a:solidFill>
              <a:srgbClr val="C9D3E0"/>
            </a:solidFill>
            <a:prstDash val="solid"/>
          </a:ln>
        </p:spPr>
      </p:sp>
      <p:sp>
        <p:nvSpPr>
          <p:cNvPr id="29" name="Text 23"/>
          <p:cNvSpPr txBox="1"/>
          <p:nvPr/>
        </p:nvSpPr>
        <p:spPr>
          <a:xfrm>
            <a:off x="4846320" y="3630168"/>
            <a:ext cx="3931920" cy="987552"/>
          </a:xfrm>
          <a:prstGeom prst="rect">
            <a:avLst/>
          </a:prstGeom>
          <a:noFill/>
          <a:ln/>
        </p:spPr>
        <p:txBody>
          <a:bodyPr wrap="square" lIns="0" tIns="0" rIns="0" bIns="0" rtlCol="0" anchor="t"/>
          <a:lstStyle/>
          <a:p>
            <a:pPr indent="0" marL="0">
              <a:buNone/>
            </a:pPr>
            <a:r>
              <a:rPr lang="en-US" sz="2400" b="1" dirty="0">
                <a:solidFill>
                  <a:srgbClr val="8A4A0F"/>
                </a:solidFill>
                <a:latin typeface="Times New Roman" pitchFamily="34" charset="0"/>
                <a:ea typeface="Times New Roman" pitchFamily="34" charset="-122"/>
                <a:cs typeface="Times New Roman" pitchFamily="34" charset="-120"/>
              </a:rPr>
              <a:t>31 to 64%</a:t>
            </a:r>
            <a:endParaRPr lang="en-US" sz="2400" dirty="0"/>
          </a:p>
          <a:p>
            <a:pPr indent="0" marL="0">
              <a:buNone/>
            </a:pPr>
            <a:r>
              <a:rPr lang="en-US" sz="1100" dirty="0">
                <a:solidFill>
                  <a:schemeClr val="tx1"/>
                </a:solidFill>
              </a:rPr>
              <a:t>of remote-sensing VLM answers contain hallucinations, judged by experts (RSHallu, 2026). None states when not to trust it.</a:t>
            </a:r>
            <a:endParaRPr lang="en-US" sz="24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Instruments Answer, AI Only Asks</a:t>
            </a:r>
            <a:endParaRPr lang="en-US" sz="2600" dirty="0"/>
          </a:p>
        </p:txBody>
      </p:sp>
      <p:sp>
        <p:nvSpPr>
          <p:cNvPr id="5" name="Shape 3"/>
          <p:cNvSpPr/>
          <p:nvPr/>
        </p:nvSpPr>
        <p:spPr>
          <a:xfrm>
            <a:off x="274320" y="777240"/>
            <a:ext cx="8595360" cy="457200"/>
          </a:xfrm>
          <a:prstGeom prst="rect">
            <a:avLst/>
          </a:prstGeom>
          <a:solidFill>
            <a:schemeClr val="bg1"/>
          </a:solidFill>
          <a:ln w="12700">
            <a:solidFill>
              <a:srgbClr val="1E2430"/>
            </a:solidFill>
            <a:prstDash val="solid"/>
          </a:ln>
        </p:spPr>
      </p:sp>
      <p:sp>
        <p:nvSpPr>
          <p:cNvPr id="6" name="Text 4"/>
          <p:cNvSpPr txBox="1"/>
          <p:nvPr/>
        </p:nvSpPr>
        <p:spPr>
          <a:xfrm>
            <a:off x="365760" y="777240"/>
            <a:ext cx="8412480" cy="457200"/>
          </a:xfrm>
          <a:prstGeom prst="rect">
            <a:avLst/>
          </a:prstGeom>
          <a:noFill/>
          <a:ln/>
        </p:spPr>
        <p:txBody>
          <a:bodyPr wrap="square" lIns="0" tIns="0" rIns="0" bIns="0" rtlCol="0" anchor="ctr"/>
          <a:lstStyle/>
          <a:p>
            <a:pPr algn="ctr" indent="0" marL="0">
              <a:buNone/>
            </a:pPr>
            <a:r>
              <a:rPr lang="en-US" sz="1300" dirty="0">
                <a:solidFill>
                  <a:schemeClr val="tx1"/>
                </a:solidFill>
              </a:rPr>
              <a:t>Every number comes from a measured, versioned instrument on the real radar pass. The language model never makes a number up.</a:t>
            </a:r>
            <a:endParaRPr lang="en-US" sz="1300" dirty="0"/>
          </a:p>
        </p:txBody>
      </p:sp>
      <p:sp>
        <p:nvSpPr>
          <p:cNvPr id="7" name="Shape 5"/>
          <p:cNvSpPr/>
          <p:nvPr/>
        </p:nvSpPr>
        <p:spPr>
          <a:xfrm>
            <a:off x="320040" y="1472184"/>
            <a:ext cx="420624" cy="420624"/>
          </a:xfrm>
          <a:prstGeom prst="ellipse">
            <a:avLst/>
          </a:prstGeom>
          <a:solidFill>
            <a:schemeClr val="accent1"/>
          </a:solidFill>
          <a:ln w="12700">
            <a:solidFill>
              <a:schemeClr val="accent1"/>
            </a:solidFill>
            <a:prstDash val="solid"/>
          </a:ln>
        </p:spPr>
      </p:sp>
      <p:sp>
        <p:nvSpPr>
          <p:cNvPr id="8" name="Text 6"/>
          <p:cNvSpPr txBox="1"/>
          <p:nvPr/>
        </p:nvSpPr>
        <p:spPr>
          <a:xfrm>
            <a:off x="320040" y="147218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7"/>
          <p:cNvSpPr txBox="1"/>
          <p:nvPr/>
        </p:nvSpPr>
        <p:spPr>
          <a:xfrm>
            <a:off x="868680" y="1417320"/>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Ask</a:t>
            </a:r>
            <a:endParaRPr lang="en-US" sz="1300" dirty="0"/>
          </a:p>
        </p:txBody>
      </p:sp>
      <p:sp>
        <p:nvSpPr>
          <p:cNvPr id="10" name="Text 8"/>
          <p:cNvSpPr txBox="1"/>
          <p:nvPr/>
        </p:nvSpPr>
        <p:spPr>
          <a:xfrm>
            <a:off x="868680" y="1673352"/>
            <a:ext cx="2926080" cy="384048"/>
          </a:xfrm>
          <a:prstGeom prst="rect">
            <a:avLst/>
          </a:prstGeom>
          <a:noFill/>
          <a:ln/>
        </p:spPr>
        <p:txBody>
          <a:bodyPr wrap="square" lIns="0" tIns="0" rIns="0" bIns="0" rtlCol="0" anchor="t"/>
          <a:lstStyle/>
          <a:p>
            <a:pPr indent="0" marL="0">
              <a:buNone/>
            </a:pPr>
            <a:r>
              <a:rPr lang="en-US" sz="1100" dirty="0">
                <a:solidFill>
                  <a:srgbClr val="5B6472"/>
                </a:solidFill>
              </a:rPr>
              <a:t>"How much of Barpeta was under water on 11 July?"</a:t>
            </a:r>
            <a:endParaRPr lang="en-US" sz="1100" dirty="0"/>
          </a:p>
        </p:txBody>
      </p:sp>
      <p:sp>
        <p:nvSpPr>
          <p:cNvPr id="11" name="Shape 9"/>
          <p:cNvSpPr/>
          <p:nvPr/>
        </p:nvSpPr>
        <p:spPr>
          <a:xfrm>
            <a:off x="530352" y="1920240"/>
            <a:ext cx="0" cy="283464"/>
          </a:xfrm>
          <a:prstGeom prst="line">
            <a:avLst/>
          </a:prstGeom>
          <a:noFill/>
          <a:ln w="19050">
            <a:solidFill>
              <a:srgbClr val="C9D3E0"/>
            </a:solidFill>
            <a:prstDash val="solid"/>
          </a:ln>
        </p:spPr>
      </p:sp>
      <p:sp>
        <p:nvSpPr>
          <p:cNvPr id="12" name="Shape 10"/>
          <p:cNvSpPr/>
          <p:nvPr/>
        </p:nvSpPr>
        <p:spPr>
          <a:xfrm>
            <a:off x="320040" y="2231136"/>
            <a:ext cx="420624" cy="420624"/>
          </a:xfrm>
          <a:prstGeom prst="ellipse">
            <a:avLst/>
          </a:prstGeom>
          <a:solidFill>
            <a:schemeClr val="accent1"/>
          </a:solidFill>
          <a:ln w="12700">
            <a:solidFill>
              <a:schemeClr val="accent1"/>
            </a:solidFill>
            <a:prstDash val="solid"/>
          </a:ln>
        </p:spPr>
      </p:sp>
      <p:sp>
        <p:nvSpPr>
          <p:cNvPr id="13" name="Text 11"/>
          <p:cNvSpPr txBox="1"/>
          <p:nvPr/>
        </p:nvSpPr>
        <p:spPr>
          <a:xfrm>
            <a:off x="320040" y="2231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868680" y="2176272"/>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Find the pass</a:t>
            </a:r>
            <a:endParaRPr lang="en-US" sz="1300" dirty="0"/>
          </a:p>
        </p:txBody>
      </p:sp>
      <p:sp>
        <p:nvSpPr>
          <p:cNvPr id="15" name="Text 13"/>
          <p:cNvSpPr txBox="1"/>
          <p:nvPr/>
        </p:nvSpPr>
        <p:spPr>
          <a:xfrm>
            <a:off x="868680" y="2432304"/>
            <a:ext cx="2926080" cy="384048"/>
          </a:xfrm>
          <a:prstGeom prst="rect">
            <a:avLst/>
          </a:prstGeom>
          <a:noFill/>
          <a:ln/>
        </p:spPr>
        <p:txBody>
          <a:bodyPr wrap="square" lIns="0" tIns="0" rIns="0" bIns="0" rtlCol="0" anchor="t"/>
          <a:lstStyle/>
          <a:p>
            <a:pPr indent="0" marL="0">
              <a:buNone/>
            </a:pPr>
            <a:r>
              <a:rPr lang="en-US" sz="1100" dirty="0">
                <a:solidFill>
                  <a:srgbClr val="5B6472"/>
                </a:solidFill>
              </a:rPr>
              <a:t>Public STAC catalogues; radar first in monsoon</a:t>
            </a:r>
            <a:endParaRPr lang="en-US" sz="1100" dirty="0"/>
          </a:p>
        </p:txBody>
      </p:sp>
      <p:sp>
        <p:nvSpPr>
          <p:cNvPr id="16" name="Shape 14"/>
          <p:cNvSpPr/>
          <p:nvPr/>
        </p:nvSpPr>
        <p:spPr>
          <a:xfrm>
            <a:off x="530352" y="2679192"/>
            <a:ext cx="0" cy="283464"/>
          </a:xfrm>
          <a:prstGeom prst="line">
            <a:avLst/>
          </a:prstGeom>
          <a:noFill/>
          <a:ln w="19050">
            <a:solidFill>
              <a:srgbClr val="C9D3E0"/>
            </a:solidFill>
            <a:prstDash val="solid"/>
          </a:ln>
        </p:spPr>
      </p:sp>
      <p:sp>
        <p:nvSpPr>
          <p:cNvPr id="17" name="Shape 15"/>
          <p:cNvSpPr/>
          <p:nvPr/>
        </p:nvSpPr>
        <p:spPr>
          <a:xfrm>
            <a:off x="320040" y="2990088"/>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320040" y="29900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868680" y="2935224"/>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Measure</a:t>
            </a:r>
            <a:endParaRPr lang="en-US" sz="1300" dirty="0"/>
          </a:p>
        </p:txBody>
      </p:sp>
      <p:sp>
        <p:nvSpPr>
          <p:cNvPr id="20" name="Text 18"/>
          <p:cNvSpPr txBox="1"/>
          <p:nvPr/>
        </p:nvSpPr>
        <p:spPr>
          <a:xfrm>
            <a:off x="868680" y="3191256"/>
            <a:ext cx="2926080" cy="384048"/>
          </a:xfrm>
          <a:prstGeom prst="rect">
            <a:avLst/>
          </a:prstGeom>
          <a:noFill/>
          <a:ln/>
        </p:spPr>
        <p:txBody>
          <a:bodyPr wrap="square" lIns="0" tIns="0" rIns="0" bIns="0" rtlCol="0" anchor="t"/>
          <a:lstStyle/>
          <a:p>
            <a:pPr indent="0" marL="0">
              <a:buNone/>
            </a:pPr>
            <a:r>
              <a:rPr lang="en-US" sz="1100" dirty="0">
                <a:solidFill>
                  <a:srgbClr val="5B6472"/>
                </a:solidFill>
              </a:rPr>
              <a:t>SAR water instrument per 5 km tile, on CPU</a:t>
            </a:r>
            <a:endParaRPr lang="en-US" sz="1100" dirty="0"/>
          </a:p>
        </p:txBody>
      </p:sp>
      <p:sp>
        <p:nvSpPr>
          <p:cNvPr id="21" name="Shape 19"/>
          <p:cNvSpPr/>
          <p:nvPr/>
        </p:nvSpPr>
        <p:spPr>
          <a:xfrm>
            <a:off x="530352" y="3438144"/>
            <a:ext cx="0" cy="283464"/>
          </a:xfrm>
          <a:prstGeom prst="line">
            <a:avLst/>
          </a:prstGeom>
          <a:noFill/>
          <a:ln w="19050">
            <a:solidFill>
              <a:srgbClr val="C9D3E0"/>
            </a:solidFill>
            <a:prstDash val="solid"/>
          </a:ln>
        </p:spPr>
      </p:sp>
      <p:sp>
        <p:nvSpPr>
          <p:cNvPr id="22" name="Shape 20"/>
          <p:cNvSpPr/>
          <p:nvPr/>
        </p:nvSpPr>
        <p:spPr>
          <a:xfrm>
            <a:off x="320040" y="3749040"/>
            <a:ext cx="420624" cy="420624"/>
          </a:xfrm>
          <a:prstGeom prst="ellipse">
            <a:avLst/>
          </a:prstGeom>
          <a:solidFill>
            <a:schemeClr val="accent1"/>
          </a:solidFill>
          <a:ln w="12700">
            <a:solidFill>
              <a:schemeClr val="accent1"/>
            </a:solidFill>
            <a:prstDash val="solid"/>
          </a:ln>
        </p:spPr>
      </p:sp>
      <p:sp>
        <p:nvSpPr>
          <p:cNvPr id="23" name="Text 21"/>
          <p:cNvSpPr txBox="1"/>
          <p:nvPr/>
        </p:nvSpPr>
        <p:spPr>
          <a:xfrm>
            <a:off x="320040" y="37490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868680" y="3694176"/>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Calibrate</a:t>
            </a:r>
            <a:endParaRPr lang="en-US" sz="1300" dirty="0"/>
          </a:p>
        </p:txBody>
      </p:sp>
      <p:sp>
        <p:nvSpPr>
          <p:cNvPr id="25" name="Text 23"/>
          <p:cNvSpPr txBox="1"/>
          <p:nvPr/>
        </p:nvSpPr>
        <p:spPr>
          <a:xfrm>
            <a:off x="868680" y="3950208"/>
            <a:ext cx="2926080" cy="384048"/>
          </a:xfrm>
          <a:prstGeom prst="rect">
            <a:avLst/>
          </a:prstGeom>
          <a:noFill/>
          <a:ln/>
        </p:spPr>
        <p:txBody>
          <a:bodyPr wrap="square" lIns="0" tIns="0" rIns="0" bIns="0" rtlCol="0" anchor="t"/>
          <a:lstStyle/>
          <a:p>
            <a:pPr indent="0" marL="0">
              <a:buNone/>
            </a:pPr>
            <a:r>
              <a:rPr lang="en-US" sz="1100" dirty="0">
                <a:solidFill>
                  <a:srgbClr val="5B6472"/>
                </a:solidFill>
              </a:rPr>
              <a:t>Score to probability, fitted on hand labels</a:t>
            </a:r>
            <a:endParaRPr lang="en-US" sz="1100" dirty="0"/>
          </a:p>
        </p:txBody>
      </p:sp>
      <p:sp>
        <p:nvSpPr>
          <p:cNvPr id="26" name="Shape 24"/>
          <p:cNvSpPr/>
          <p:nvPr/>
        </p:nvSpPr>
        <p:spPr>
          <a:xfrm>
            <a:off x="4069080" y="1417320"/>
            <a:ext cx="0" cy="3291840"/>
          </a:xfrm>
          <a:prstGeom prst="line">
            <a:avLst/>
          </a:prstGeom>
          <a:noFill/>
          <a:ln w="12700">
            <a:solidFill>
              <a:srgbClr val="1E2430"/>
            </a:solidFill>
            <a:prstDash val="solid"/>
          </a:ln>
        </p:spPr>
      </p:sp>
      <p:sp>
        <p:nvSpPr>
          <p:cNvPr id="27" name="card yes"/>
          <p:cNvSpPr/>
          <p:nvPr/>
        </p:nvSpPr>
        <p:spPr>
          <a:xfrm>
            <a:off x="4297680" y="1417320"/>
            <a:ext cx="2194560" cy="3246120"/>
          </a:xfrm>
          <a:prstGeom prst="rect">
            <a:avLst/>
          </a:prstGeom>
          <a:solidFill>
            <a:schemeClr val="bg1"/>
          </a:solidFill>
          <a:ln w="12700">
            <a:solidFill>
              <a:srgbClr val="C9D3E0"/>
            </a:solidFill>
            <a:prstDash val="solid"/>
          </a:ln>
        </p:spPr>
      </p:sp>
      <p:sp>
        <p:nvSpPr>
          <p:cNvPr id="28" name="Text 26"/>
          <p:cNvSpPr txBox="1"/>
          <p:nvPr/>
        </p:nvSpPr>
        <p:spPr>
          <a:xfrm>
            <a:off x="4389120" y="1481328"/>
            <a:ext cx="2011680" cy="256032"/>
          </a:xfrm>
          <a:prstGeom prst="rect">
            <a:avLst/>
          </a:prstGeom>
          <a:noFill/>
          <a:ln/>
        </p:spPr>
        <p:txBody>
          <a:bodyPr wrap="square" lIns="0" tIns="0" rIns="0" bIns="0" rtlCol="0" anchor="ctr"/>
          <a:lstStyle/>
          <a:p>
            <a:pPr indent="0" marL="0">
              <a:buNone/>
            </a:pPr>
            <a:r>
              <a:rPr lang="en-US" sz="1000" b="1" dirty="0">
                <a:solidFill>
                  <a:schemeClr val="accent3"/>
                </a:solidFill>
              </a:rPr>
              <a:t>CONFIDENCE ≥ 0.60</a:t>
            </a:r>
            <a:endParaRPr lang="en-US" sz="1000" dirty="0"/>
          </a:p>
        </p:txBody>
      </p:sp>
      <p:sp>
        <p:nvSpPr>
          <p:cNvPr id="29" name="Text 27"/>
          <p:cNvSpPr txBox="1"/>
          <p:nvPr/>
        </p:nvSpPr>
        <p:spPr>
          <a:xfrm>
            <a:off x="4389120" y="1755648"/>
            <a:ext cx="2011680" cy="841248"/>
          </a:xfrm>
          <a:prstGeom prst="rect">
            <a:avLst/>
          </a:prstGeom>
          <a:noFill/>
          <a:ln/>
        </p:spPr>
        <p:txBody>
          <a:bodyPr wrap="square" lIns="0" tIns="0" rIns="0" bIns="0" rtlCol="0" anchor="t"/>
          <a:lstStyle/>
          <a:p>
            <a:pPr indent="0" marL="0">
              <a:buNone/>
            </a:pPr>
            <a:r>
              <a:rPr lang="en-US" sz="2800" b="1" dirty="0">
                <a:solidFill>
                  <a:schemeClr val="tx1"/>
                </a:solidFill>
                <a:latin typeface="Times New Roman" pitchFamily="34" charset="0"/>
                <a:ea typeface="Times New Roman" pitchFamily="34" charset="-122"/>
                <a:cs typeface="Times New Roman" pitchFamily="34" charset="-120"/>
              </a:rPr>
              <a:t>914 km²</a:t>
            </a:r>
            <a:endParaRPr lang="en-US" sz="2800" dirty="0"/>
          </a:p>
          <a:p>
            <a:pPr indent="0" marL="0">
              <a:buNone/>
            </a:pPr>
            <a:r>
              <a:rPr lang="en-US" sz="1100" dirty="0">
                <a:solidFill>
                  <a:schemeClr val="tx1"/>
                </a:solidFill>
              </a:rPr>
              <a:t>water in Barpeta, 11 Jul 2024</a:t>
            </a:r>
            <a:endParaRPr lang="en-US" sz="2800" dirty="0"/>
          </a:p>
        </p:txBody>
      </p:sp>
      <p:sp>
        <p:nvSpPr>
          <p:cNvPr id="30" name="Shape 28"/>
          <p:cNvSpPr/>
          <p:nvPr/>
        </p:nvSpPr>
        <p:spPr>
          <a:xfrm>
            <a:off x="4389120" y="2606040"/>
            <a:ext cx="2011680" cy="301752"/>
          </a:xfrm>
          <a:prstGeom prst="roundRect">
            <a:avLst>
              <a:gd name="adj" fmla="val 24242"/>
            </a:avLst>
          </a:prstGeom>
          <a:solidFill>
            <a:schemeClr val="bg2"/>
          </a:solidFill>
          <a:ln w="12700">
            <a:solidFill>
              <a:schemeClr val="bg2"/>
            </a:solidFill>
            <a:prstDash val="solid"/>
          </a:ln>
        </p:spPr>
      </p:sp>
      <p:sp>
        <p:nvSpPr>
          <p:cNvPr id="31" name="Text 29"/>
          <p:cNvSpPr txBox="1"/>
          <p:nvPr/>
        </p:nvSpPr>
        <p:spPr>
          <a:xfrm>
            <a:off x="4434840" y="2606040"/>
            <a:ext cx="1920240" cy="301752"/>
          </a:xfrm>
          <a:prstGeom prst="rect">
            <a:avLst/>
          </a:prstGeom>
          <a:noFill/>
          <a:ln/>
        </p:spPr>
        <p:txBody>
          <a:bodyPr wrap="square" lIns="0" tIns="0" rIns="0" bIns="0" rtlCol="0" anchor="ctr"/>
          <a:lstStyle/>
          <a:p>
            <a:pPr indent="0" marL="0">
              <a:buNone/>
            </a:pPr>
            <a:r>
              <a:rPr lang="en-US" sz="1000" dirty="0">
                <a:solidFill>
                  <a:schemeClr val="tx1"/>
                </a:solidFill>
              </a:rPr>
              <a:t>Sentinel-1 scene + date</a:t>
            </a:r>
            <a:endParaRPr lang="en-US" sz="1000" dirty="0"/>
          </a:p>
        </p:txBody>
      </p:sp>
      <p:sp>
        <p:nvSpPr>
          <p:cNvPr id="32" name="Shape 30"/>
          <p:cNvSpPr/>
          <p:nvPr/>
        </p:nvSpPr>
        <p:spPr>
          <a:xfrm>
            <a:off x="4389120" y="2971800"/>
            <a:ext cx="2011680" cy="301752"/>
          </a:xfrm>
          <a:prstGeom prst="roundRect">
            <a:avLst>
              <a:gd name="adj" fmla="val 24242"/>
            </a:avLst>
          </a:prstGeom>
          <a:solidFill>
            <a:schemeClr val="bg2"/>
          </a:solidFill>
          <a:ln w="12700">
            <a:solidFill>
              <a:schemeClr val="bg2"/>
            </a:solidFill>
            <a:prstDash val="solid"/>
          </a:ln>
        </p:spPr>
      </p:sp>
      <p:sp>
        <p:nvSpPr>
          <p:cNvPr id="33" name="Text 31"/>
          <p:cNvSpPr txBox="1"/>
          <p:nvPr/>
        </p:nvSpPr>
        <p:spPr>
          <a:xfrm>
            <a:off x="4434840" y="2971800"/>
            <a:ext cx="1920240" cy="301752"/>
          </a:xfrm>
          <a:prstGeom prst="rect">
            <a:avLst/>
          </a:prstGeom>
          <a:noFill/>
          <a:ln/>
        </p:spPr>
        <p:txBody>
          <a:bodyPr wrap="square" lIns="0" tIns="0" rIns="0" bIns="0" rtlCol="0" anchor="ctr"/>
          <a:lstStyle/>
          <a:p>
            <a:pPr indent="0" marL="0">
              <a:buNone/>
            </a:pPr>
            <a:r>
              <a:rPr lang="en-US" sz="1000" dirty="0">
                <a:solidFill>
                  <a:schemeClr val="tx1"/>
                </a:solidFill>
              </a:rPr>
              <a:t>117 of 117 tiles</a:t>
            </a:r>
            <a:endParaRPr lang="en-US" sz="1000" dirty="0"/>
          </a:p>
        </p:txBody>
      </p:sp>
      <p:sp>
        <p:nvSpPr>
          <p:cNvPr id="34" name="Shape 32"/>
          <p:cNvSpPr/>
          <p:nvPr/>
        </p:nvSpPr>
        <p:spPr>
          <a:xfrm>
            <a:off x="4389120" y="3337560"/>
            <a:ext cx="2011680" cy="301752"/>
          </a:xfrm>
          <a:prstGeom prst="roundRect">
            <a:avLst>
              <a:gd name="adj" fmla="val 24242"/>
            </a:avLst>
          </a:prstGeom>
          <a:solidFill>
            <a:schemeClr val="bg2"/>
          </a:solidFill>
          <a:ln w="12700">
            <a:solidFill>
              <a:schemeClr val="bg2"/>
            </a:solidFill>
            <a:prstDash val="solid"/>
          </a:ln>
        </p:spPr>
      </p:sp>
      <p:sp>
        <p:nvSpPr>
          <p:cNvPr id="35" name="Text 33"/>
          <p:cNvSpPr txBox="1"/>
          <p:nvPr/>
        </p:nvSpPr>
        <p:spPr>
          <a:xfrm>
            <a:off x="4434840" y="3337560"/>
            <a:ext cx="1920240" cy="301752"/>
          </a:xfrm>
          <a:prstGeom prst="rect">
            <a:avLst/>
          </a:prstGeom>
          <a:noFill/>
          <a:ln/>
        </p:spPr>
        <p:txBody>
          <a:bodyPr wrap="square" lIns="0" tIns="0" rIns="0" bIns="0" rtlCol="0" anchor="ctr"/>
          <a:lstStyle/>
          <a:p>
            <a:pPr indent="0" marL="0">
              <a:buNone/>
            </a:pPr>
            <a:r>
              <a:rPr lang="en-US" sz="1000" dirty="0">
                <a:solidFill>
                  <a:schemeClr val="tx1"/>
                </a:solidFill>
              </a:rPr>
              <a:t>confidence 0.62</a:t>
            </a:r>
            <a:endParaRPr lang="en-US" sz="1000" dirty="0"/>
          </a:p>
        </p:txBody>
      </p:sp>
      <p:sp>
        <p:nvSpPr>
          <p:cNvPr id="36" name="Shape 34"/>
          <p:cNvSpPr/>
          <p:nvPr/>
        </p:nvSpPr>
        <p:spPr>
          <a:xfrm>
            <a:off x="4389120" y="3703320"/>
            <a:ext cx="2011680" cy="301752"/>
          </a:xfrm>
          <a:prstGeom prst="roundRect">
            <a:avLst>
              <a:gd name="adj" fmla="val 24242"/>
            </a:avLst>
          </a:prstGeom>
          <a:solidFill>
            <a:schemeClr val="bg2"/>
          </a:solidFill>
          <a:ln w="12700">
            <a:solidFill>
              <a:schemeClr val="bg2"/>
            </a:solidFill>
            <a:prstDash val="solid"/>
          </a:ln>
        </p:spPr>
      </p:sp>
      <p:sp>
        <p:nvSpPr>
          <p:cNvPr id="37" name="Text 35"/>
          <p:cNvSpPr txBox="1"/>
          <p:nvPr/>
        </p:nvSpPr>
        <p:spPr>
          <a:xfrm>
            <a:off x="4434840" y="3703320"/>
            <a:ext cx="1920240" cy="301752"/>
          </a:xfrm>
          <a:prstGeom prst="rect">
            <a:avLst/>
          </a:prstGeom>
          <a:noFill/>
          <a:ln/>
        </p:spPr>
        <p:txBody>
          <a:bodyPr wrap="square" lIns="0" tIns="0" rIns="0" bIns="0" rtlCol="0" anchor="ctr"/>
          <a:lstStyle/>
          <a:p>
            <a:pPr indent="0" marL="0">
              <a:buNone/>
            </a:pPr>
            <a:r>
              <a:rPr lang="en-US" sz="1000" dirty="0">
                <a:solidFill>
                  <a:schemeClr val="tx1"/>
                </a:solidFill>
              </a:rPr>
              <a:t>receipt re-runs identically</a:t>
            </a:r>
            <a:endParaRPr lang="en-US" sz="1000" dirty="0"/>
          </a:p>
        </p:txBody>
      </p:sp>
      <p:sp>
        <p:nvSpPr>
          <p:cNvPr id="38" name="Text 36"/>
          <p:cNvSpPr txBox="1"/>
          <p:nvPr/>
        </p:nvSpPr>
        <p:spPr>
          <a:xfrm>
            <a:off x="4389120" y="4096512"/>
            <a:ext cx="2011680" cy="457200"/>
          </a:xfrm>
          <a:prstGeom prst="rect">
            <a:avLst/>
          </a:prstGeom>
          <a:noFill/>
          <a:ln/>
        </p:spPr>
        <p:txBody>
          <a:bodyPr wrap="square" lIns="0" tIns="0" rIns="0" bIns="0" rtlCol="0" anchor="t"/>
          <a:lstStyle/>
          <a:p>
            <a:pPr indent="0" marL="0">
              <a:buNone/>
            </a:pPr>
            <a:r>
              <a:rPr lang="en-US" sz="900" dirty="0">
                <a:solidFill>
                  <a:srgbClr val="5B6472"/>
                </a:solidFill>
              </a:rPr>
              <a:t>Water extent, includes the river and wetlands; not yet checked against NRSC maps.</a:t>
            </a:r>
            <a:endParaRPr lang="en-US" sz="900" dirty="0"/>
          </a:p>
        </p:txBody>
      </p:sp>
      <p:sp>
        <p:nvSpPr>
          <p:cNvPr id="39" name="card no"/>
          <p:cNvSpPr/>
          <p:nvPr/>
        </p:nvSpPr>
        <p:spPr>
          <a:xfrm>
            <a:off x="6675120" y="1417320"/>
            <a:ext cx="2194560" cy="3246120"/>
          </a:xfrm>
          <a:prstGeom prst="rect">
            <a:avLst/>
          </a:prstGeom>
          <a:solidFill>
            <a:srgbClr val="F4E6D6"/>
          </a:solidFill>
          <a:ln w="12700">
            <a:solidFill>
              <a:srgbClr val="C9D3E0"/>
            </a:solidFill>
            <a:prstDash val="solid"/>
          </a:ln>
        </p:spPr>
      </p:sp>
      <p:sp>
        <p:nvSpPr>
          <p:cNvPr id="40" name="Text 38"/>
          <p:cNvSpPr txBox="1"/>
          <p:nvPr/>
        </p:nvSpPr>
        <p:spPr>
          <a:xfrm>
            <a:off x="6766560" y="1481328"/>
            <a:ext cx="2011680" cy="256032"/>
          </a:xfrm>
          <a:prstGeom prst="rect">
            <a:avLst/>
          </a:prstGeom>
          <a:noFill/>
          <a:ln/>
        </p:spPr>
        <p:txBody>
          <a:bodyPr wrap="square" lIns="0" tIns="0" rIns="0" bIns="0" rtlCol="0" anchor="ctr"/>
          <a:lstStyle/>
          <a:p>
            <a:pPr indent="0" marL="0">
              <a:buNone/>
            </a:pPr>
            <a:r>
              <a:rPr lang="en-US" sz="1000" b="1" dirty="0">
                <a:solidFill>
                  <a:srgbClr val="8A4A0F"/>
                </a:solidFill>
              </a:rPr>
              <a:t>CONFIDENCE &lt; 0.60</a:t>
            </a:r>
            <a:endParaRPr lang="en-US" sz="1000" dirty="0"/>
          </a:p>
        </p:txBody>
      </p:sp>
      <p:sp>
        <p:nvSpPr>
          <p:cNvPr id="41" name="Text 39"/>
          <p:cNvSpPr txBox="1"/>
          <p:nvPr/>
        </p:nvSpPr>
        <p:spPr>
          <a:xfrm>
            <a:off x="6766560" y="1755648"/>
            <a:ext cx="2011680" cy="2788920"/>
          </a:xfrm>
          <a:prstGeom prst="rect">
            <a:avLst/>
          </a:prstGeom>
          <a:noFill/>
          <a:ln/>
        </p:spPr>
        <p:txBody>
          <a:bodyPr wrap="square" lIns="0" tIns="0" rIns="0" bIns="0" rtlCol="0" anchor="t"/>
          <a:lstStyle/>
          <a:p>
            <a:pPr indent="0" marL="0">
              <a:buNone/>
            </a:pPr>
            <a:r>
              <a:rPr lang="en-US" sz="1800" b="1" dirty="0">
                <a:solidFill>
                  <a:schemeClr val="tx1"/>
                </a:solidFill>
                <a:latin typeface="Times New Roman" pitchFamily="34" charset="0"/>
                <a:ea typeface="Times New Roman" pitchFamily="34" charset="-122"/>
                <a:cs typeface="Times New Roman" pitchFamily="34" charset="-120"/>
              </a:rPr>
              <a:t>Not enough evidence</a:t>
            </a:r>
            <a:endParaRPr lang="en-US" sz="1800" dirty="0"/>
          </a:p>
          <a:p>
            <a:pPr indent="0" marL="0">
              <a:buNone/>
            </a:pPr>
            <a:r>
              <a:rPr lang="en-US" sz="1100" dirty="0">
                <a:solidFill>
                  <a:schemeClr val="tx1"/>
                </a:solidFill>
              </a:rPr>
              <a:t>"Did the flood spread?" abstained at 0.23. EvidEO offered what would help instead: the two single-date extents (413 and 914 km²), each published with its own confidence.</a:t>
            </a:r>
            <a:endParaRPr lang="en-US" sz="18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It Works on Held-Out Data</a:t>
            </a:r>
            <a:endParaRPr lang="en-US" sz="2600" dirty="0"/>
          </a:p>
        </p:txBody>
      </p:sp>
      <p:sp>
        <p:nvSpPr>
          <p:cNvPr id="5" name="Text 3"/>
          <p:cNvSpPr txBox="1"/>
          <p:nvPr/>
        </p:nvSpPr>
        <p:spPr>
          <a:xfrm>
            <a:off x="27432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WHAT A USER GETS</a:t>
            </a:r>
            <a:endParaRPr lang="en-US" sz="1400" dirty="0"/>
          </a:p>
        </p:txBody>
      </p:sp>
      <p:sp>
        <p:nvSpPr>
          <p:cNvPr id="6" name="Text 4"/>
          <p:cNvSpPr txBox="1"/>
          <p:nvPr/>
        </p:nvSpPr>
        <p:spPr>
          <a:xfrm>
            <a:off x="470916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RISK VS COVERAGE (82 HELD-OUT CHIPS)</a:t>
            </a:r>
            <a:endParaRPr lang="en-US" sz="1400" dirty="0"/>
          </a:p>
        </p:txBody>
      </p:sp>
      <p:sp>
        <p:nvSpPr>
          <p:cNvPr id="7" name="Shape 5"/>
          <p:cNvSpPr/>
          <p:nvPr/>
        </p:nvSpPr>
        <p:spPr>
          <a:xfrm>
            <a:off x="4572000" y="777240"/>
            <a:ext cx="0" cy="3931920"/>
          </a:xfrm>
          <a:prstGeom prst="line">
            <a:avLst/>
          </a:prstGeom>
          <a:noFill/>
          <a:ln w="12700">
            <a:solidFill>
              <a:srgbClr val="1E2430"/>
            </a:solidFill>
            <a:prstDash val="solid"/>
          </a:ln>
        </p:spPr>
      </p:sp>
      <p:sp>
        <p:nvSpPr>
          <p:cNvPr id="8" name="stat 0"/>
          <p:cNvSpPr/>
          <p:nvPr/>
        </p:nvSpPr>
        <p:spPr>
          <a:xfrm>
            <a:off x="320040" y="1143000"/>
            <a:ext cx="1965960" cy="1645920"/>
          </a:xfrm>
          <a:prstGeom prst="rect">
            <a:avLst/>
          </a:prstGeom>
          <a:solidFill>
            <a:srgbClr val="EEF3F9"/>
          </a:solidFill>
          <a:ln w="12700">
            <a:solidFill>
              <a:srgbClr val="C9D3E0"/>
            </a:solidFill>
            <a:prstDash val="solid"/>
          </a:ln>
        </p:spPr>
      </p:sp>
      <p:sp>
        <p:nvSpPr>
          <p:cNvPr id="9" name="Text 7"/>
          <p:cNvSpPr txBox="1"/>
          <p:nvPr/>
        </p:nvSpPr>
        <p:spPr>
          <a:xfrm>
            <a:off x="411480" y="1216152"/>
            <a:ext cx="1783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Times New Roman" pitchFamily="34" charset="0"/>
                <a:ea typeface="Times New Roman" pitchFamily="34" charset="-122"/>
                <a:cs typeface="Times New Roman" pitchFamily="34" charset="-120"/>
              </a:rPr>
              <a:t>45% → 26%</a:t>
            </a:r>
            <a:endParaRPr lang="en-US" sz="2200" dirty="0"/>
          </a:p>
        </p:txBody>
      </p:sp>
      <p:sp>
        <p:nvSpPr>
          <p:cNvPr id="10" name="Text 8"/>
          <p:cNvSpPr txBox="1"/>
          <p:nvPr/>
        </p:nvSpPr>
        <p:spPr>
          <a:xfrm>
            <a:off x="411480" y="1892808"/>
            <a:ext cx="1783080" cy="822960"/>
          </a:xfrm>
          <a:prstGeom prst="rect">
            <a:avLst/>
          </a:prstGeom>
          <a:noFill/>
          <a:ln/>
        </p:spPr>
        <p:txBody>
          <a:bodyPr wrap="square" lIns="0" tIns="0" rIns="0" bIns="0" rtlCol="0" anchor="t"/>
          <a:lstStyle/>
          <a:p>
            <a:pPr indent="0" marL="0">
              <a:buNone/>
            </a:pPr>
            <a:r>
              <a:rPr lang="en-US" sz="1100" dirty="0">
                <a:solidFill>
                  <a:schemeClr val="tx1"/>
                </a:solidFill>
              </a:rPr>
              <a:t>wrong area answers, always answering vs publishing only at 0.60</a:t>
            </a:r>
            <a:endParaRPr lang="en-US" sz="1100" dirty="0"/>
          </a:p>
        </p:txBody>
      </p:sp>
      <p:sp>
        <p:nvSpPr>
          <p:cNvPr id="11" name="stat 1"/>
          <p:cNvSpPr/>
          <p:nvPr/>
        </p:nvSpPr>
        <p:spPr>
          <a:xfrm>
            <a:off x="2423160" y="1143000"/>
            <a:ext cx="1965960" cy="1645920"/>
          </a:xfrm>
          <a:prstGeom prst="rect">
            <a:avLst/>
          </a:prstGeom>
          <a:solidFill>
            <a:srgbClr val="EEF3F9"/>
          </a:solidFill>
          <a:ln w="12700">
            <a:solidFill>
              <a:srgbClr val="C9D3E0"/>
            </a:solidFill>
            <a:prstDash val="solid"/>
          </a:ln>
        </p:spPr>
      </p:sp>
      <p:sp>
        <p:nvSpPr>
          <p:cNvPr id="12" name="Text 10"/>
          <p:cNvSpPr txBox="1"/>
          <p:nvPr/>
        </p:nvSpPr>
        <p:spPr>
          <a:xfrm>
            <a:off x="2514600" y="121615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43%</a:t>
            </a:r>
            <a:endParaRPr lang="en-US" sz="2600" dirty="0"/>
          </a:p>
        </p:txBody>
      </p:sp>
      <p:sp>
        <p:nvSpPr>
          <p:cNvPr id="13" name="Text 11"/>
          <p:cNvSpPr txBox="1"/>
          <p:nvPr/>
        </p:nvSpPr>
        <p:spPr>
          <a:xfrm>
            <a:off x="2514600" y="1892808"/>
            <a:ext cx="1783080" cy="822960"/>
          </a:xfrm>
          <a:prstGeom prst="rect">
            <a:avLst/>
          </a:prstGeom>
          <a:noFill/>
          <a:ln/>
        </p:spPr>
        <p:txBody>
          <a:bodyPr wrap="square" lIns="0" tIns="0" rIns="0" bIns="0" rtlCol="0" anchor="t"/>
          <a:lstStyle/>
          <a:p>
            <a:pPr indent="0" marL="0">
              <a:buNone/>
            </a:pPr>
            <a:r>
              <a:rPr lang="en-US" sz="1100" dirty="0">
                <a:solidFill>
                  <a:schemeClr val="tx1"/>
                </a:solidFill>
              </a:rPr>
              <a:t>of questions answered; the rest honestly abstain</a:t>
            </a:r>
            <a:endParaRPr lang="en-US" sz="1100" dirty="0"/>
          </a:p>
        </p:txBody>
      </p:sp>
      <p:sp>
        <p:nvSpPr>
          <p:cNvPr id="14" name="stat 2"/>
          <p:cNvSpPr/>
          <p:nvPr/>
        </p:nvSpPr>
        <p:spPr>
          <a:xfrm>
            <a:off x="320040" y="2926080"/>
            <a:ext cx="1965960" cy="1645920"/>
          </a:xfrm>
          <a:prstGeom prst="rect">
            <a:avLst/>
          </a:prstGeom>
          <a:solidFill>
            <a:srgbClr val="EEF3F9"/>
          </a:solidFill>
          <a:ln w="12700">
            <a:solidFill>
              <a:srgbClr val="C9D3E0"/>
            </a:solidFill>
            <a:prstDash val="solid"/>
          </a:ln>
        </p:spPr>
      </p:sp>
      <p:sp>
        <p:nvSpPr>
          <p:cNvPr id="15" name="Text 13"/>
          <p:cNvSpPr txBox="1"/>
          <p:nvPr/>
        </p:nvSpPr>
        <p:spPr>
          <a:xfrm>
            <a:off x="411480" y="299923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8 / 8</a:t>
            </a:r>
            <a:endParaRPr lang="en-US" sz="2600" dirty="0"/>
          </a:p>
        </p:txBody>
      </p:sp>
      <p:sp>
        <p:nvSpPr>
          <p:cNvPr id="16" name="Text 14"/>
          <p:cNvSpPr txBox="1"/>
          <p:nvPr/>
        </p:nvSpPr>
        <p:spPr>
          <a:xfrm>
            <a:off x="411480" y="3675888"/>
            <a:ext cx="1783080" cy="822960"/>
          </a:xfrm>
          <a:prstGeom prst="rect">
            <a:avLst/>
          </a:prstGeom>
          <a:noFill/>
          <a:ln/>
        </p:spPr>
        <p:txBody>
          <a:bodyPr wrap="square" lIns="0" tIns="0" rIns="0" bIns="0" rtlCol="0" anchor="t"/>
          <a:lstStyle/>
          <a:p>
            <a:pPr indent="0" marL="0">
              <a:buNone/>
            </a:pPr>
            <a:r>
              <a:rPr lang="en-US" sz="1100" dirty="0">
                <a:solidFill>
                  <a:schemeClr val="tx1"/>
                </a:solidFill>
              </a:rPr>
              <a:t>demo receipts re-ran to identical output hashes (713 tiles)</a:t>
            </a:r>
            <a:endParaRPr lang="en-US" sz="1100" dirty="0"/>
          </a:p>
        </p:txBody>
      </p:sp>
      <p:sp>
        <p:nvSpPr>
          <p:cNvPr id="17" name="stat 3"/>
          <p:cNvSpPr/>
          <p:nvPr/>
        </p:nvSpPr>
        <p:spPr>
          <a:xfrm>
            <a:off x="2423160" y="2926080"/>
            <a:ext cx="1965960" cy="1645920"/>
          </a:xfrm>
          <a:prstGeom prst="rect">
            <a:avLst/>
          </a:prstGeom>
          <a:solidFill>
            <a:srgbClr val="EEF3F9"/>
          </a:solidFill>
          <a:ln w="12700">
            <a:solidFill>
              <a:srgbClr val="C9D3E0"/>
            </a:solidFill>
            <a:prstDash val="solid"/>
          </a:ln>
        </p:spPr>
      </p:sp>
      <p:sp>
        <p:nvSpPr>
          <p:cNvPr id="18" name="Text 16"/>
          <p:cNvSpPr txBox="1"/>
          <p:nvPr/>
        </p:nvSpPr>
        <p:spPr>
          <a:xfrm>
            <a:off x="2514600" y="299923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77 to 98 s</a:t>
            </a:r>
            <a:endParaRPr lang="en-US" sz="2600" dirty="0"/>
          </a:p>
        </p:txBody>
      </p:sp>
      <p:sp>
        <p:nvSpPr>
          <p:cNvPr id="19" name="Text 17"/>
          <p:cNvSpPr txBox="1"/>
          <p:nvPr/>
        </p:nvSpPr>
        <p:spPr>
          <a:xfrm>
            <a:off x="2514600" y="3675888"/>
            <a:ext cx="1783080" cy="822960"/>
          </a:xfrm>
          <a:prstGeom prst="rect">
            <a:avLst/>
          </a:prstGeom>
          <a:noFill/>
          <a:ln/>
        </p:spPr>
        <p:txBody>
          <a:bodyPr wrap="square" lIns="0" tIns="0" rIns="0" bIns="0" rtlCol="0" anchor="t"/>
          <a:lstStyle/>
          <a:p>
            <a:pPr indent="0" marL="0">
              <a:buNone/>
            </a:pPr>
            <a:r>
              <a:rPr lang="en-US" sz="1100" dirty="0">
                <a:solidFill>
                  <a:schemeClr val="tx1"/>
                </a:solidFill>
              </a:rPr>
              <a:t>per whole district on 2 CPU cores, no GPU; 0.5 s cached</a:t>
            </a:r>
            <a:endParaRPr lang="en-US" sz="1100" dirty="0"/>
          </a:p>
        </p:txBody>
      </p:sp>
      <p:graphicFrame>
        <p:nvGraphicFramePr>
          <p:cNvPr id="20" name="risk coverage chart" descr=""/>
          <p:cNvGraphicFramePr/>
          <p:nvPr/>
        </p:nvGraphicFramePr>
        <p:xfrm>
          <a:off x="4709160" y="1097280"/>
          <a:ext cx="4160520" cy="301752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709160" y="4114800"/>
            <a:ext cx="4160520" cy="566928"/>
          </a:xfrm>
          <a:prstGeom prst="rect">
            <a:avLst/>
          </a:prstGeom>
          <a:noFill/>
          <a:ln/>
        </p:spPr>
        <p:txBody>
          <a:bodyPr wrap="square" lIns="0" tIns="0" rIns="0" bIns="0" rtlCol="0" anchor="t"/>
          <a:lstStyle/>
          <a:p>
            <a:pPr indent="0" marL="0">
              <a:buNone/>
            </a:pPr>
            <a:r>
              <a:rPr lang="en-US" sz="900" dirty="0">
                <a:solidFill>
                  <a:srgbClr val="5B6472"/>
                </a:solidFill>
              </a:rPr>
              <a:t>Sen1Floods11 test split. Answer counted right if area is within ±20% of hand labels. Our detector itself is ordinary: per-chip IoU 0.36, same as the published Otsu baseline (0.36).</a:t>
            </a:r>
            <a:endParaRPr lang="en-US" sz="9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Trust Must Be Calibrated Locally</a:t>
            </a:r>
            <a:endParaRPr lang="en-US" sz="2600" dirty="0"/>
          </a:p>
        </p:txBody>
      </p:sp>
      <p:graphicFrame>
        <p:nvGraphicFramePr>
          <p:cNvPr id="5" name="loeo chart" descr=""/>
          <p:cNvGraphicFramePr/>
          <p:nvPr/>
        </p:nvGraphicFramePr>
        <p:xfrm>
          <a:off x="274320" y="777240"/>
          <a:ext cx="43434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754880" y="822960"/>
            <a:ext cx="0" cy="3886200"/>
          </a:xfrm>
          <a:prstGeom prst="line">
            <a:avLst/>
          </a:prstGeom>
          <a:noFill/>
          <a:ln w="12700">
            <a:solidFill>
              <a:srgbClr val="1E2430"/>
            </a:solidFill>
            <a:prstDash val="solid"/>
          </a:ln>
        </p:spPr>
      </p:sp>
      <p:sp>
        <p:nvSpPr>
          <p:cNvPr id="7" name="Text 4"/>
          <p:cNvSpPr txBox="1"/>
          <p:nvPr/>
        </p:nvSpPr>
        <p:spPr>
          <a:xfrm>
            <a:off x="4937760" y="822960"/>
            <a:ext cx="3931920" cy="1143000"/>
          </a:xfrm>
          <a:prstGeom prst="rect">
            <a:avLst/>
          </a:prstGeom>
          <a:noFill/>
          <a:ln/>
        </p:spPr>
        <p:txBody>
          <a:bodyPr wrap="square" lIns="0" tIns="0" rIns="0" bIns="0" rtlCol="0" anchor="t"/>
          <a:lstStyle/>
          <a:p>
            <a:pPr indent="0" marL="0">
              <a:buNone/>
            </a:pPr>
            <a:r>
              <a:rPr lang="en-US" sz="1200" b="1" dirty="0">
                <a:solidFill>
                  <a:schemeClr val="tx1"/>
                </a:solidFill>
              </a:rPr>
              <a:t>South Asian floods fool a globally calibrated system.</a:t>
            </a:r>
            <a:endParaRPr lang="en-US" sz="1200" dirty="0"/>
          </a:p>
          <a:p>
            <a:pPr indent="0" marL="0">
              <a:buNone/>
            </a:pPr>
            <a:r>
              <a:rPr lang="en-US" sz="1200" dirty="0">
                <a:solidFill>
                  <a:schemeClr val="tx1"/>
                </a:solidFill>
              </a:rPr>
              <a:t>Fitted on other regions, EvidEO would be over-confident on India by 20 points and publish 52% of Indian answers with 55% of them wrong.</a:t>
            </a:r>
            <a:endParaRPr lang="en-US" sz="1200" dirty="0"/>
          </a:p>
        </p:txBody>
      </p:sp>
      <p:sp>
        <p:nvSpPr>
          <p:cNvPr id="8" name="fix 0"/>
          <p:cNvSpPr/>
          <p:nvPr/>
        </p:nvSpPr>
        <p:spPr>
          <a:xfrm>
            <a:off x="4937760" y="2103120"/>
            <a:ext cx="3931920" cy="749808"/>
          </a:xfrm>
          <a:prstGeom prst="rect">
            <a:avLst/>
          </a:prstGeom>
          <a:solidFill>
            <a:srgbClr val="EEF3F9"/>
          </a:solidFill>
          <a:ln w="12700">
            <a:solidFill>
              <a:srgbClr val="C9D3E0"/>
            </a:solidFill>
            <a:prstDash val="solid"/>
          </a:ln>
        </p:spPr>
      </p:sp>
      <p:sp>
        <p:nvSpPr>
          <p:cNvPr id="9" name="Text 6"/>
          <p:cNvSpPr txBox="1"/>
          <p:nvPr/>
        </p:nvSpPr>
        <p:spPr>
          <a:xfrm>
            <a:off x="5029200" y="2103120"/>
            <a:ext cx="1600200" cy="749808"/>
          </a:xfrm>
          <a:prstGeom prst="rect">
            <a:avLst/>
          </a:prstGeom>
          <a:noFill/>
          <a:ln/>
        </p:spPr>
        <p:txBody>
          <a:bodyPr wrap="square" lIns="0" tIns="0" rIns="0" bIns="0" rtlCol="0" anchor="ctr"/>
          <a:lstStyle/>
          <a:p>
            <a:pPr indent="0" marL="0">
              <a:buNone/>
            </a:pPr>
            <a:r>
              <a:rPr lang="en-US" sz="1800" b="1" dirty="0">
                <a:solidFill>
                  <a:schemeClr val="accent1"/>
                </a:solidFill>
                <a:latin typeface="Times New Roman" pitchFamily="34" charset="0"/>
                <a:ea typeface="Times New Roman" pitchFamily="34" charset="-122"/>
                <a:cs typeface="Times New Roman" pitchFamily="34" charset="-120"/>
              </a:rPr>
              <a:t>+20 → +1</a:t>
            </a:r>
            <a:endParaRPr lang="en-US" sz="1800" dirty="0"/>
          </a:p>
        </p:txBody>
      </p:sp>
      <p:sp>
        <p:nvSpPr>
          <p:cNvPr id="10" name="Text 7"/>
          <p:cNvSpPr txBox="1"/>
          <p:nvPr/>
        </p:nvSpPr>
        <p:spPr>
          <a:xfrm>
            <a:off x="6675120" y="2103120"/>
            <a:ext cx="2103120" cy="749808"/>
          </a:xfrm>
          <a:prstGeom prst="rect">
            <a:avLst/>
          </a:prstGeom>
          <a:noFill/>
          <a:ln/>
        </p:spPr>
        <p:txBody>
          <a:bodyPr wrap="square" lIns="0" tIns="0" rIns="0" bIns="0" rtlCol="0" anchor="ctr"/>
          <a:lstStyle/>
          <a:p>
            <a:pPr indent="0" marL="0">
              <a:buNone/>
            </a:pPr>
            <a:r>
              <a:rPr lang="en-US" sz="1100" dirty="0">
                <a:solidFill>
                  <a:schemeClr val="tx1"/>
                </a:solidFill>
              </a:rPr>
              <a:t>over-confidence after refitting on just 8 Indian chips</a:t>
            </a:r>
            <a:endParaRPr lang="en-US" sz="1100" dirty="0"/>
          </a:p>
        </p:txBody>
      </p:sp>
      <p:sp>
        <p:nvSpPr>
          <p:cNvPr id="11" name="fix 1"/>
          <p:cNvSpPr/>
          <p:nvPr/>
        </p:nvSpPr>
        <p:spPr>
          <a:xfrm>
            <a:off x="4937760" y="2971800"/>
            <a:ext cx="3931920" cy="749808"/>
          </a:xfrm>
          <a:prstGeom prst="rect">
            <a:avLst/>
          </a:prstGeom>
          <a:solidFill>
            <a:srgbClr val="EEF3F9"/>
          </a:solidFill>
          <a:ln w="12700">
            <a:solidFill>
              <a:srgbClr val="C9D3E0"/>
            </a:solidFill>
            <a:prstDash val="solid"/>
          </a:ln>
        </p:spPr>
      </p:sp>
      <p:sp>
        <p:nvSpPr>
          <p:cNvPr id="12" name="Text 9"/>
          <p:cNvSpPr txBox="1"/>
          <p:nvPr/>
        </p:nvSpPr>
        <p:spPr>
          <a:xfrm>
            <a:off x="5029200" y="2971800"/>
            <a:ext cx="1600200" cy="749808"/>
          </a:xfrm>
          <a:prstGeom prst="rect">
            <a:avLst/>
          </a:prstGeom>
          <a:noFill/>
          <a:ln/>
        </p:spPr>
        <p:txBody>
          <a:bodyPr wrap="square" lIns="0" tIns="0" rIns="0" bIns="0" rtlCol="0" anchor="ctr"/>
          <a:lstStyle/>
          <a:p>
            <a:pPr indent="0" marL="0">
              <a:buNone/>
            </a:pPr>
            <a:r>
              <a:rPr lang="en-US" sz="1800" b="1" dirty="0">
                <a:solidFill>
                  <a:schemeClr val="accent1"/>
                </a:solidFill>
                <a:latin typeface="Times New Roman" pitchFamily="34" charset="0"/>
                <a:ea typeface="Times New Roman" pitchFamily="34" charset="-122"/>
                <a:cs typeface="Times New Roman" pitchFamily="34" charset="-120"/>
              </a:rPr>
              <a:t>55% → 28%</a:t>
            </a:r>
            <a:endParaRPr lang="en-US" sz="1800" dirty="0"/>
          </a:p>
        </p:txBody>
      </p:sp>
      <p:sp>
        <p:nvSpPr>
          <p:cNvPr id="13" name="Text 10"/>
          <p:cNvSpPr txBox="1"/>
          <p:nvPr/>
        </p:nvSpPr>
        <p:spPr>
          <a:xfrm>
            <a:off x="6675120" y="2971800"/>
            <a:ext cx="2103120" cy="749808"/>
          </a:xfrm>
          <a:prstGeom prst="rect">
            <a:avLst/>
          </a:prstGeom>
          <a:noFill/>
          <a:ln/>
        </p:spPr>
        <p:txBody>
          <a:bodyPr wrap="square" lIns="0" tIns="0" rIns="0" bIns="0" rtlCol="0" anchor="ctr"/>
          <a:lstStyle/>
          <a:p>
            <a:pPr indent="0" marL="0">
              <a:buNone/>
            </a:pPr>
            <a:r>
              <a:rPr lang="en-US" sz="1100" dirty="0">
                <a:solidFill>
                  <a:schemeClr val="tx1"/>
                </a:solidFill>
              </a:rPr>
              <a:t>wrong among published Indian answers</a:t>
            </a:r>
            <a:endParaRPr lang="en-US" sz="1100" dirty="0"/>
          </a:p>
        </p:txBody>
      </p:sp>
      <p:sp>
        <p:nvSpPr>
          <p:cNvPr id="14" name="fix 2"/>
          <p:cNvSpPr/>
          <p:nvPr/>
        </p:nvSpPr>
        <p:spPr>
          <a:xfrm>
            <a:off x="4937760" y="3840480"/>
            <a:ext cx="3931920" cy="749808"/>
          </a:xfrm>
          <a:prstGeom prst="rect">
            <a:avLst/>
          </a:prstGeom>
          <a:solidFill>
            <a:srgbClr val="F4E6D6"/>
          </a:solidFill>
          <a:ln w="12700">
            <a:solidFill>
              <a:srgbClr val="C9D3E0"/>
            </a:solidFill>
            <a:prstDash val="solid"/>
          </a:ln>
        </p:spPr>
      </p:sp>
      <p:sp>
        <p:nvSpPr>
          <p:cNvPr id="15" name="Text 12"/>
          <p:cNvSpPr txBox="1"/>
          <p:nvPr/>
        </p:nvSpPr>
        <p:spPr>
          <a:xfrm>
            <a:off x="5029200" y="3840480"/>
            <a:ext cx="1600200" cy="749808"/>
          </a:xfrm>
          <a:prstGeom prst="rect">
            <a:avLst/>
          </a:prstGeom>
          <a:noFill/>
          <a:ln/>
        </p:spPr>
        <p:txBody>
          <a:bodyPr wrap="square" lIns="0" tIns="0" rIns="0" bIns="0" rtlCol="0" anchor="ctr"/>
          <a:lstStyle/>
          <a:p>
            <a:pPr indent="0" marL="0">
              <a:buNone/>
            </a:pPr>
            <a:r>
              <a:rPr lang="en-US" sz="1800" b="1" dirty="0">
                <a:solidFill>
                  <a:srgbClr val="8A4A0F"/>
                </a:solidFill>
                <a:latin typeface="Times New Roman" pitchFamily="34" charset="0"/>
                <a:ea typeface="Times New Roman" pitchFamily="34" charset="-122"/>
                <a:cs typeface="Times New Roman" pitchFamily="34" charset="-120"/>
              </a:rPr>
              <a:t>52% → 13%</a:t>
            </a:r>
            <a:endParaRPr lang="en-US" sz="1800" dirty="0"/>
          </a:p>
        </p:txBody>
      </p:sp>
      <p:sp>
        <p:nvSpPr>
          <p:cNvPr id="16" name="Text 13"/>
          <p:cNvSpPr txBox="1"/>
          <p:nvPr/>
        </p:nvSpPr>
        <p:spPr>
          <a:xfrm>
            <a:off x="6675120" y="3840480"/>
            <a:ext cx="2103120" cy="749808"/>
          </a:xfrm>
          <a:prstGeom prst="rect">
            <a:avLst/>
          </a:prstGeom>
          <a:noFill/>
          <a:ln/>
        </p:spPr>
        <p:txBody>
          <a:bodyPr wrap="square" lIns="0" tIns="0" rIns="0" bIns="0" rtlCol="0" anchor="ctr"/>
          <a:lstStyle/>
          <a:p>
            <a:pPr indent="0" marL="0">
              <a:buNone/>
            </a:pPr>
            <a:r>
              <a:rPr lang="en-US" sz="1100" dirty="0">
                <a:solidFill>
                  <a:schemeClr val="tx1"/>
                </a:solidFill>
              </a:rPr>
              <a:t>answered: the honest price of a weak instrument</a:t>
            </a:r>
            <a:endParaRPr lang="en-US" sz="11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Why It Matters, and What Is Next</a:t>
            </a:r>
            <a:endParaRPr lang="en-US" sz="2600" dirty="0"/>
          </a:p>
        </p:txBody>
      </p:sp>
      <p:sp>
        <p:nvSpPr>
          <p:cNvPr id="5" name="Text 3"/>
          <p:cNvSpPr txBox="1"/>
          <p:nvPr/>
        </p:nvSpPr>
        <p:spPr>
          <a:xfrm>
            <a:off x="274320" y="749808"/>
            <a:ext cx="4846320" cy="292608"/>
          </a:xfrm>
          <a:prstGeom prst="rect">
            <a:avLst/>
          </a:prstGeom>
          <a:noFill/>
          <a:ln/>
        </p:spPr>
        <p:txBody>
          <a:bodyPr wrap="square" lIns="0" tIns="0" rIns="0" bIns="0" rtlCol="0" anchor="ctr"/>
          <a:lstStyle/>
          <a:p>
            <a:pPr algn="ctr" indent="0" marL="0">
              <a:buNone/>
            </a:pPr>
            <a:r>
              <a:rPr lang="en-US" sz="1400" b="1" dirty="0">
                <a:solidFill>
                  <a:schemeClr val="tx1"/>
                </a:solidFill>
              </a:rPr>
              <a:t>NO SYSTEM IN 225 PAPERS HAS MORE THAN TWO OF THESE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4846320" cy="914400"/>
        </p:xfrm>
        <a:graphic>
          <a:graphicData uri="http://schemas.openxmlformats.org/drawingml/2006/table">
            <a:tbl>
              <a:tblPr/>
              <a:tblGrid>
                <a:gridCol w="1737360"/>
                <a:gridCol w="621792"/>
                <a:gridCol w="621792"/>
                <a:gridCol w="658368"/>
                <a:gridCol w="658368"/>
                <a:gridCol w="548640"/>
              </a:tblGrid>
              <a:tr h="329184">
                <a:tc>
                  <a:txBody>
                    <a:bodyPr/>
                    <a:lstStyle/>
                    <a:p>
                      <a:pPr algn="l" indent="0" marL="0">
                        <a:buNone/>
                      </a:pP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F5A99"/>
                          </a:solidFill>
                          <a:latin typeface="Calibri" pitchFamily="34" charset="0"/>
                          <a:ea typeface="Calibri" pitchFamily="34" charset="-122"/>
                          <a:cs typeface="Calibri" pitchFamily="34" charset="-120"/>
                        </a:rPr>
                        <a:t>EvidEO</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EO-Gym</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NRSC maps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SHRUG-FM</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RS-VLMs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Calibrated confidence per answer</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Abstains with a next step</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Scene receipts that re-run</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Radar chosen under cloud</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CPU or offline</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Plain-language questions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274320" y="3474720"/>
            <a:ext cx="4846320" cy="256032"/>
          </a:xfrm>
          <a:prstGeom prst="rect">
            <a:avLst/>
          </a:prstGeom>
          <a:noFill/>
          <a:ln/>
        </p:spPr>
        <p:txBody>
          <a:bodyPr wrap="square" lIns="0" tIns="0" rIns="0" bIns="0" rtlCol="0" anchor="ctr"/>
          <a:lstStyle/>
          <a:p>
            <a:pPr indent="0" marL="0">
              <a:buNone/>
            </a:pPr>
            <a:r>
              <a:rPr lang="en-US" sz="900" dirty="0">
                <a:solidFill>
                  <a:srgbClr val="5B6472"/>
                </a:solidFill>
              </a:rPr>
              <a:t>● has it   ◐ partial form.  From our 225-paper archive review (NOVELTY.md, section 5.3).</a:t>
            </a:r>
            <a:endParaRPr lang="en-US" sz="900" dirty="0"/>
          </a:p>
        </p:txBody>
      </p:sp>
      <p:sp>
        <p:nvSpPr>
          <p:cNvPr id="8" name="honest limits"/>
          <p:cNvSpPr/>
          <p:nvPr/>
        </p:nvSpPr>
        <p:spPr>
          <a:xfrm>
            <a:off x="274320" y="3794760"/>
            <a:ext cx="4846320" cy="896112"/>
          </a:xfrm>
          <a:prstGeom prst="rect">
            <a:avLst/>
          </a:prstGeom>
          <a:solidFill>
            <a:srgbClr val="F4E6D6"/>
          </a:solidFill>
          <a:ln w="12700">
            <a:solidFill>
              <a:srgbClr val="C9D3E0"/>
            </a:solidFill>
            <a:prstDash val="solid"/>
          </a:ln>
        </p:spPr>
      </p:sp>
      <p:sp>
        <p:nvSpPr>
          <p:cNvPr id="9" name="Text 6"/>
          <p:cNvSpPr txBox="1"/>
          <p:nvPr/>
        </p:nvSpPr>
        <p:spPr>
          <a:xfrm>
            <a:off x="384048" y="3840480"/>
            <a:ext cx="4626864" cy="804672"/>
          </a:xfrm>
          <a:prstGeom prst="rect">
            <a:avLst/>
          </a:prstGeom>
          <a:noFill/>
          <a:ln/>
        </p:spPr>
        <p:txBody>
          <a:bodyPr wrap="square" lIns="0" tIns="0" rIns="0" bIns="0" rtlCol="0" anchor="ctr"/>
          <a:lstStyle/>
          <a:p>
            <a:pPr indent="0" marL="0">
              <a:buNone/>
            </a:pPr>
            <a:r>
              <a:rPr lang="en-US" sz="1100" b="1" dirty="0">
                <a:solidFill>
                  <a:schemeClr val="tx1"/>
                </a:solidFill>
              </a:rPr>
              <a:t>Honest limits: </a:t>
            </a:r>
            <a:pPr indent="0" marL="0">
              <a:buNone/>
            </a:pPr>
            <a:r>
              <a:rPr lang="en-US" sz="1100" dirty="0">
                <a:solidFill>
                  <a:schemeClr val="tx1"/>
                </a:solidFill>
              </a:rPr>
              <a:t>the detector is a 2016-style threshold chain; Indian labels come from one event; no user study yet; the 914 km² figure includes the river and wetlands.</a:t>
            </a:r>
            <a:endParaRPr lang="en-US" sz="1100" dirty="0"/>
          </a:p>
        </p:txBody>
      </p:sp>
      <p:sp>
        <p:nvSpPr>
          <p:cNvPr id="10" name="Shape 7"/>
          <p:cNvSpPr/>
          <p:nvPr/>
        </p:nvSpPr>
        <p:spPr>
          <a:xfrm>
            <a:off x="5349240" y="822960"/>
            <a:ext cx="0" cy="3886200"/>
          </a:xfrm>
          <a:prstGeom prst="line">
            <a:avLst/>
          </a:prstGeom>
          <a:noFill/>
          <a:ln w="12700">
            <a:solidFill>
              <a:srgbClr val="1E2430"/>
            </a:solidFill>
            <a:prstDash val="solid"/>
          </a:ln>
        </p:spPr>
      </p:sp>
      <p:sp>
        <p:nvSpPr>
          <p:cNvPr id="11" name="Text 8"/>
          <p:cNvSpPr txBox="1"/>
          <p:nvPr/>
        </p:nvSpPr>
        <p:spPr>
          <a:xfrm>
            <a:off x="5532120" y="749808"/>
            <a:ext cx="3337560" cy="292608"/>
          </a:xfrm>
          <a:prstGeom prst="rect">
            <a:avLst/>
          </a:prstGeom>
          <a:noFill/>
          <a:ln/>
        </p:spPr>
        <p:txBody>
          <a:bodyPr wrap="square" lIns="0" tIns="0" rIns="0" bIns="0" rtlCol="0" anchor="ctr"/>
          <a:lstStyle/>
          <a:p>
            <a:pPr algn="ctr" indent="0" marL="0">
              <a:buNone/>
            </a:pPr>
            <a:r>
              <a:rPr lang="en-US" sz="1400" b="1" dirty="0">
                <a:solidFill>
                  <a:schemeClr val="tx1"/>
                </a:solidFill>
              </a:rPr>
              <a:t>NEXT</a:t>
            </a:r>
            <a:endParaRPr lang="en-US" sz="1400" dirty="0"/>
          </a:p>
        </p:txBody>
      </p:sp>
      <p:sp>
        <p:nvSpPr>
          <p:cNvPr id="12" name="Text 9"/>
          <p:cNvSpPr txBox="1"/>
          <p:nvPr/>
        </p:nvSpPr>
        <p:spPr>
          <a:xfrm>
            <a:off x="5532120" y="1143000"/>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Better instrument</a:t>
            </a:r>
            <a:endParaRPr lang="en-US" sz="1300" dirty="0"/>
          </a:p>
        </p:txBody>
      </p:sp>
      <p:sp>
        <p:nvSpPr>
          <p:cNvPr id="13" name="Text 10"/>
          <p:cNvSpPr txBox="1"/>
          <p:nvPr/>
        </p:nvSpPr>
        <p:spPr>
          <a:xfrm>
            <a:off x="5532120" y="1417320"/>
            <a:ext cx="3337560" cy="502920"/>
          </a:xfrm>
          <a:prstGeom prst="rect">
            <a:avLst/>
          </a:prstGeom>
          <a:noFill/>
          <a:ln/>
        </p:spPr>
        <p:txBody>
          <a:bodyPr wrap="square" lIns="0" tIns="0" rIns="0" bIns="0" rtlCol="0" anchor="t"/>
          <a:lstStyle/>
          <a:p>
            <a:pPr indent="0" marL="0">
              <a:buNone/>
            </a:pPr>
            <a:r>
              <a:rPr lang="en-US" sz="1100" dirty="0">
                <a:solidFill>
                  <a:schemeClr val="tx1"/>
                </a:solidFill>
              </a:rPr>
              <a:t>Terrain (HAND) and permanent-water masks, per-pixel water probability</a:t>
            </a:r>
            <a:endParaRPr lang="en-US" sz="1100" dirty="0"/>
          </a:p>
        </p:txBody>
      </p:sp>
      <p:sp>
        <p:nvSpPr>
          <p:cNvPr id="14" name="Text 11"/>
          <p:cNvSpPr txBox="1"/>
          <p:nvPr/>
        </p:nvSpPr>
        <p:spPr>
          <a:xfrm>
            <a:off x="5532120" y="2029968"/>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Indian labels</a:t>
            </a:r>
            <a:endParaRPr lang="en-US" sz="1300" dirty="0"/>
          </a:p>
        </p:txBody>
      </p:sp>
      <p:sp>
        <p:nvSpPr>
          <p:cNvPr id="15" name="Text 12"/>
          <p:cNvSpPr txBox="1"/>
          <p:nvPr/>
        </p:nvSpPr>
        <p:spPr>
          <a:xfrm>
            <a:off x="5532120" y="2304288"/>
            <a:ext cx="3337560" cy="502920"/>
          </a:xfrm>
          <a:prstGeom prst="rect">
            <a:avLst/>
          </a:prstGeom>
          <a:noFill/>
          <a:ln/>
        </p:spPr>
        <p:txBody>
          <a:bodyPr wrap="square" lIns="0" tIns="0" rIns="0" bIns="0" rtlCol="0" anchor="t"/>
          <a:lstStyle/>
          <a:p>
            <a:pPr indent="0" marL="0">
              <a:buNone/>
            </a:pPr>
            <a:r>
              <a:rPr lang="en-US" sz="1100" dirty="0">
                <a:solidFill>
                  <a:schemeClr val="tx1"/>
                </a:solidFill>
              </a:rPr>
              <a:t>Label chips from Assam and Bihar events; test across events</a:t>
            </a:r>
            <a:endParaRPr lang="en-US" sz="1100" dirty="0"/>
          </a:p>
        </p:txBody>
      </p:sp>
      <p:sp>
        <p:nvSpPr>
          <p:cNvPr id="16" name="Text 13"/>
          <p:cNvSpPr txBox="1"/>
          <p:nvPr/>
        </p:nvSpPr>
        <p:spPr>
          <a:xfrm>
            <a:off x="5532120" y="2916936"/>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User study</a:t>
            </a:r>
            <a:endParaRPr lang="en-US" sz="1300" dirty="0"/>
          </a:p>
        </p:txBody>
      </p:sp>
      <p:sp>
        <p:nvSpPr>
          <p:cNvPr id="17" name="Text 14"/>
          <p:cNvSpPr txBox="1"/>
          <p:nvPr/>
        </p:nvSpPr>
        <p:spPr>
          <a:xfrm>
            <a:off x="5532120" y="3191256"/>
            <a:ext cx="3337560" cy="502920"/>
          </a:xfrm>
          <a:prstGeom prst="rect">
            <a:avLst/>
          </a:prstGeom>
          <a:noFill/>
          <a:ln/>
        </p:spPr>
        <p:txBody>
          <a:bodyPr wrap="square" lIns="0" tIns="0" rIns="0" bIns="0" rtlCol="0" anchor="t"/>
          <a:lstStyle/>
          <a:p>
            <a:pPr indent="0" marL="0">
              <a:buNone/>
            </a:pPr>
            <a:r>
              <a:rPr lang="en-US" sz="1100" dirty="0">
                <a:solidFill>
                  <a:schemeClr val="tx1"/>
                </a:solidFill>
              </a:rPr>
              <a:t>10 to 15 non-GIS users: cards vs map tools, timed</a:t>
            </a:r>
            <a:endParaRPr lang="en-US" sz="1100" dirty="0"/>
          </a:p>
        </p:txBody>
      </p:sp>
      <p:sp>
        <p:nvSpPr>
          <p:cNvPr id="18" name="Text 15"/>
          <p:cNvSpPr txBox="1"/>
          <p:nvPr/>
        </p:nvSpPr>
        <p:spPr>
          <a:xfrm>
            <a:off x="5532120" y="3803904"/>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Publish</a:t>
            </a:r>
            <a:endParaRPr lang="en-US" sz="1300" dirty="0"/>
          </a:p>
        </p:txBody>
      </p:sp>
      <p:sp>
        <p:nvSpPr>
          <p:cNvPr id="19" name="Text 16"/>
          <p:cNvSpPr txBox="1"/>
          <p:nvPr/>
        </p:nvSpPr>
        <p:spPr>
          <a:xfrm>
            <a:off x="5532120" y="4078224"/>
            <a:ext cx="3337560" cy="502920"/>
          </a:xfrm>
          <a:prstGeom prst="rect">
            <a:avLst/>
          </a:prstGeom>
          <a:noFill/>
          <a:ln/>
        </p:spPr>
        <p:txBody>
          <a:bodyPr wrap="square" lIns="0" tIns="0" rIns="0" bIns="0" rtlCol="0" anchor="t"/>
          <a:lstStyle/>
          <a:p>
            <a:pPr indent="0" marL="0">
              <a:buNone/>
            </a:pPr>
            <a:r>
              <a:rPr lang="en-US" sz="1100" dirty="0">
                <a:solidFill>
                  <a:schemeClr val="tx1"/>
                </a:solidFill>
              </a:rPr>
              <a:t>Workshop paper (draft ready, IEEE format) and open release</a:t>
            </a:r>
            <a:endParaRPr lang="en-US" sz="11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EvidEO Plain">
  <a:themeElements>
    <a:clrScheme name="EvidEO Plain">
      <a:dk1>
        <a:srgbClr val="1E2430"/>
      </a:dk1>
      <a:lt1>
        <a:srgbClr val="FFFFFF"/>
      </a:lt1>
      <a:dk2>
        <a:srgbClr val="1F5A99"/>
      </a:dk2>
      <a:lt2>
        <a:srgbClr val="EEF3F9"/>
      </a:lt2>
      <a:accent1>
        <a:srgbClr val="1F5A99"/>
      </a:accent1>
      <a:accent2>
        <a:srgbClr val="D9822B"/>
      </a:accent2>
      <a:accent3>
        <a:srgbClr val="2A9D8F"/>
      </a:accent3>
      <a:accent4>
        <a:srgbClr val="9A9A9A"/>
      </a:accent4>
      <a:accent5>
        <a:srgbClr val="8C5BA8"/>
      </a:accent5>
      <a:accent6>
        <a:srgbClr val="5B6472"/>
      </a:accent6>
      <a:hlink>
        <a:srgbClr val="1F5A99"/>
      </a:hlink>
      <a:folHlink>
        <a:srgbClr val="8C5BA8"/>
      </a:folHlink>
    </a:clrScheme>
    <a:fontScheme name="EvidEO Plain">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EvidEO: why it matters</dc:title>
  <dc:subject>PptxGenJS Presentation</dc:subject>
  <dc:creator>Team Stardust</dc:creator>
  <cp:lastModifiedBy>Team Stardust</cp:lastModifiedBy>
  <cp:revision>1</cp:revision>
  <dcterms:created xsi:type="dcterms:W3CDTF">2026-10-12T14:18:18Z</dcterms:created>
  <dcterms:modified xsi:type="dcterms:W3CDTF">2026-10-12T14:18:18Z</dcterms:modified>
</cp:coreProperties>
</file>