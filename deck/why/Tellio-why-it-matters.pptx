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ellio" id="{a251ecf0-40f4-3bf9-df4e-27d60d70d4e1}">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Can it find the thing you asked about? (%)</a:t>
            </a:r>
          </a:p>
        </c:rich>
      </c:tx>
      <c:layout/>
      <c:overlay val="0"/>
    </c:title>
    <c:autoTitleDeleted val="0"/>
    <c:plotArea>
      <c:layout/>
      <c:barChart>
        <c:barDir val="bar"/>
        <c:grouping val="clustered"/>
        <c:varyColors val="0"/>
        <c:ser>
          <c:idx val="0"/>
          <c:order val="0"/>
          <c:tx>
            <c:strRef>
              <c:f>Sheet1!$B$1</c:f>
              <c:strCache>
                <c:ptCount val="1"/>
                <c:pt idx="0">
                  <c:v>Grounding at IoU 0.5 (%)</c:v>
                </c:pt>
              </c:strCache>
            </c:strRef>
          </c:tx>
          <c:spPr>
            <a:solidFill>
              <a:srgbClr val="9A9A9A"/>
            </a:solidFill>
            <a:effectLst/>
          </c:spPr>
          <c:invertIfNegative val="0"/>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9A9A9A"/>
              </a:solidFill>
              <a:effectLst/>
            </c:spPr>
          </c:dPt>
          <c:dPt>
            <c:idx val="1"/>
            <c:invertIfNegative val="0"/>
            <c:bubble3D val="0"/>
            <c:spPr>
              <a:solidFill>
                <a:srgbClr val="9A9A9A"/>
              </a:solidFill>
              <a:effectLst/>
            </c:spPr>
          </c:dPt>
          <c:dPt>
            <c:idx val="2"/>
            <c:invertIfNegative val="0"/>
            <c:bubble3D val="0"/>
            <c:spPr>
              <a:solidFill>
                <a:srgbClr val="1F5A99"/>
              </a:solidFill>
              <a:effectLst/>
            </c:spPr>
          </c:dPt>
          <c:dPt>
            <c:idx val="3"/>
            <c:invertIfNegative val="0"/>
            <c:bubble3D val="0"/>
            <c:spPr>
              <a:solidFill>
                <a:srgbClr val="1F5A99"/>
              </a:solidFill>
              <a:effectLst/>
            </c:spPr>
          </c:dPt>
          <c:dPt>
            <c:idx val="4"/>
            <c:invertIfNegative val="0"/>
            <c:bubble3D val="0"/>
            <c:spPr>
              <a:solidFill>
                <a:srgbClr val="2A9D8F"/>
              </a:solidFill>
              <a:effectLst/>
            </c:spPr>
          </c:dPt>
          <c:cat>
            <c:multiLvlStrRef>
              <c:f>Sheet1!$A$2:$A$6</c:f>
              <c:multiLvlStrCache>
                <c:ptCount val="5"/>
                <c:lvl>
                  <c:pt idx="0">
                    <c:v>GPT-4o</c:v>
                  </c:pt>
                  <c:pt idx="1">
                    <c:v>GPT-4V</c:v>
                  </c:pt>
                  <c:pt idx="2">
                    <c:v>GeoChat</c:v>
                  </c:pt>
                  <c:pt idx="3">
                    <c:v>EarthDial</c:v>
                  </c:pt>
                  <c:pt idx="4">
                    <c:v>Supervised specialist</c:v>
                  </c:pt>
                </c:lvl>
              </c:multiLvlStrCache>
            </c:multiLvlStrRef>
          </c:cat>
          <c:val>
            <c:numRef>
              <c:f>Sheet1!$B$2:$B$6</c:f>
              <c:numCache>
                <c:formatCode>General</c:formatCode>
                <c:ptCount val="5"/>
                <c:pt idx="0">
                  <c:v>0.9</c:v>
                </c:pt>
                <c:pt idx="1">
                  <c:v>7.6</c:v>
                </c:pt>
                <c:pt idx="2">
                  <c:v>10.6</c:v>
                </c:pt>
                <c:pt idx="3">
                  <c:v>24.3</c:v>
                </c:pt>
                <c:pt idx="4">
                  <c:v>76.8</c:v>
                </c:pt>
              </c:numCache>
            </c:numRef>
          </c:val>
        </c:ser>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9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Tellio v1.1 (VV + VH)</c:v>
                </c:pt>
              </c:strCache>
            </c:strRef>
          </c:tx>
          <c:spPr>
            <a:solidFill>
              <a:srgbClr val="1F5A99"/>
            </a:solidFill>
            <a:ln w="25400" cap="flat">
              <a:solidFill>
                <a:srgbClr val="1F5A99"/>
              </a:solidFill>
              <a:prstDash val="solid"/>
              <a:round/>
            </a:ln>
            <a:effectLst/>
          </c:spPr>
          <c:marker>
            <c:symbol val="none"/>
            <c:size val="6"/>
            <c:spPr>
              <a:solidFill>
                <a:srgbClr val="1F5A99"/>
              </a:solidFill>
              <a:ln w="9525" cap="flat">
                <a:solidFill>
                  <a:srgbClr val="1F5A99"/>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Sheet1!$B$2:$B$83</c:f>
              <c:numCache>
                <c:formatCode>General</c:formatCode>
                <c:ptCount val="82"/>
                <c:pt idx="0">
                  <c:v>0</c:v>
                </c:pt>
                <c:pt idx="1">
                  <c:v>0</c:v>
                </c:pt>
                <c:pt idx="2">
                  <c:v>0</c:v>
                </c:pt>
                <c:pt idx="3">
                  <c:v>0</c:v>
                </c:pt>
                <c:pt idx="4">
                  <c:v>0</c:v>
                </c:pt>
                <c:pt idx="5">
                  <c:v>0</c:v>
                </c:pt>
                <c:pt idx="6">
                  <c:v>0</c:v>
                </c:pt>
                <c:pt idx="7">
                  <c:v>0</c:v>
                </c:pt>
                <c:pt idx="8">
                  <c:v>11.1</c:v>
                </c:pt>
                <c:pt idx="9">
                  <c:v>10</c:v>
                </c:pt>
                <c:pt idx="10">
                  <c:v>9.1</c:v>
                </c:pt>
                <c:pt idx="11">
                  <c:v>8.3</c:v>
                </c:pt>
                <c:pt idx="12">
                  <c:v>15.4</c:v>
                </c:pt>
                <c:pt idx="13">
                  <c:v>21.4</c:v>
                </c:pt>
                <c:pt idx="14">
                  <c:v>20</c:v>
                </c:pt>
                <c:pt idx="15">
                  <c:v>18.8</c:v>
                </c:pt>
                <c:pt idx="16">
                  <c:v>23.5</c:v>
                </c:pt>
                <c:pt idx="17">
                  <c:v>22.2</c:v>
                </c:pt>
                <c:pt idx="18">
                  <c:v>26.3</c:v>
                </c:pt>
                <c:pt idx="19">
                  <c:v>25</c:v>
                </c:pt>
                <c:pt idx="20">
                  <c:v>28.6</c:v>
                </c:pt>
                <c:pt idx="21">
                  <c:v>27.3</c:v>
                </c:pt>
                <c:pt idx="22">
                  <c:v>26.1</c:v>
                </c:pt>
                <c:pt idx="23">
                  <c:v>25</c:v>
                </c:pt>
                <c:pt idx="24">
                  <c:v>24</c:v>
                </c:pt>
                <c:pt idx="25">
                  <c:v>23.1</c:v>
                </c:pt>
                <c:pt idx="26">
                  <c:v>22.2</c:v>
                </c:pt>
                <c:pt idx="27">
                  <c:v>21.4</c:v>
                </c:pt>
                <c:pt idx="28">
                  <c:v>20.7</c:v>
                </c:pt>
                <c:pt idx="29">
                  <c:v>20</c:v>
                </c:pt>
                <c:pt idx="30">
                  <c:v>19.4</c:v>
                </c:pt>
                <c:pt idx="31">
                  <c:v>21.9</c:v>
                </c:pt>
                <c:pt idx="32">
                  <c:v>24.2</c:v>
                </c:pt>
                <c:pt idx="33">
                  <c:v>23.5</c:v>
                </c:pt>
                <c:pt idx="34">
                  <c:v>25.7</c:v>
                </c:pt>
                <c:pt idx="35">
                  <c:v>27.8</c:v>
                </c:pt>
                <c:pt idx="36">
                  <c:v>27</c:v>
                </c:pt>
                <c:pt idx="37">
                  <c:v>28.9</c:v>
                </c:pt>
                <c:pt idx="38">
                  <c:v>30.8</c:v>
                </c:pt>
                <c:pt idx="39">
                  <c:v>30</c:v>
                </c:pt>
                <c:pt idx="40">
                  <c:v>29.3</c:v>
                </c:pt>
                <c:pt idx="41">
                  <c:v>31</c:v>
                </c:pt>
                <c:pt idx="42">
                  <c:v>30.2</c:v>
                </c:pt>
                <c:pt idx="43">
                  <c:v>31.8</c:v>
                </c:pt>
                <c:pt idx="44">
                  <c:v>33.3</c:v>
                </c:pt>
                <c:pt idx="45">
                  <c:v>34.8</c:v>
                </c:pt>
                <c:pt idx="46">
                  <c:v>34</c:v>
                </c:pt>
                <c:pt idx="47">
                  <c:v>33.3</c:v>
                </c:pt>
                <c:pt idx="48">
                  <c:v>34.7</c:v>
                </c:pt>
                <c:pt idx="49">
                  <c:v>34</c:v>
                </c:pt>
                <c:pt idx="50">
                  <c:v>35.3</c:v>
                </c:pt>
                <c:pt idx="51">
                  <c:v>34.6</c:v>
                </c:pt>
                <c:pt idx="52">
                  <c:v>34</c:v>
                </c:pt>
                <c:pt idx="53">
                  <c:v>35.2</c:v>
                </c:pt>
                <c:pt idx="54">
                  <c:v>36.4</c:v>
                </c:pt>
                <c:pt idx="55">
                  <c:v>37.5</c:v>
                </c:pt>
                <c:pt idx="56">
                  <c:v>38.6</c:v>
                </c:pt>
                <c:pt idx="57">
                  <c:v>39.7</c:v>
                </c:pt>
                <c:pt idx="58">
                  <c:v>40.7</c:v>
                </c:pt>
                <c:pt idx="59">
                  <c:v>40</c:v>
                </c:pt>
                <c:pt idx="60">
                  <c:v>41</c:v>
                </c:pt>
                <c:pt idx="61">
                  <c:v>41.9</c:v>
                </c:pt>
                <c:pt idx="62">
                  <c:v>42.9</c:v>
                </c:pt>
                <c:pt idx="63">
                  <c:v>42.2</c:v>
                </c:pt>
                <c:pt idx="64">
                  <c:v>43.1</c:v>
                </c:pt>
                <c:pt idx="65">
                  <c:v>43.9</c:v>
                </c:pt>
                <c:pt idx="66">
                  <c:v>44.8</c:v>
                </c:pt>
                <c:pt idx="67">
                  <c:v>44.1</c:v>
                </c:pt>
                <c:pt idx="68">
                  <c:v>43.5</c:v>
                </c:pt>
                <c:pt idx="69">
                  <c:v>42.9</c:v>
                </c:pt>
                <c:pt idx="70">
                  <c:v>43.7</c:v>
                </c:pt>
                <c:pt idx="71">
                  <c:v>44.4</c:v>
                </c:pt>
                <c:pt idx="72">
                  <c:v>43.8</c:v>
                </c:pt>
                <c:pt idx="73">
                  <c:v>43.2</c:v>
                </c:pt>
                <c:pt idx="74">
                  <c:v>44</c:v>
                </c:pt>
                <c:pt idx="75">
                  <c:v>44.7</c:v>
                </c:pt>
                <c:pt idx="76">
                  <c:v>45.5</c:v>
                </c:pt>
                <c:pt idx="77">
                  <c:v>46.2</c:v>
                </c:pt>
                <c:pt idx="78">
                  <c:v>45.6</c:v>
                </c:pt>
                <c:pt idx="79">
                  <c:v>45</c:v>
                </c:pt>
                <c:pt idx="80">
                  <c:v>44.4</c:v>
                </c:pt>
                <c:pt idx="81">
                  <c:v>45.1</c:v>
                </c:pt>
              </c:numCache>
            </c:numRef>
          </c:yVal>
          <c:smooth val="0"/>
        </c:ser>
        <c:ser>
          <c:idx val="1"/>
          <c:order val="1"/>
          <c:tx>
            <c:strRef>
              <c:f>Sheet1!$C$1</c:f>
              <c:strCache>
                <c:ptCount val="1"/>
                <c:pt idx="0">
                  <c:v>Always answer</c:v>
                </c:pt>
              </c:strCache>
            </c:strRef>
          </c:tx>
          <c:spPr>
            <a:solidFill>
              <a:srgbClr val="D9822B"/>
            </a:solidFill>
            <a:ln w="25400" cap="flat">
              <a:solidFill>
                <a:srgbClr val="D9822B"/>
              </a:solidFill>
              <a:prstDash val="solid"/>
              <a:round/>
            </a:ln>
            <a:effectLst/>
          </c:spPr>
          <c:marker>
            <c:symbol val="none"/>
            <c:size val="6"/>
            <c:spPr>
              <a:solidFill>
                <a:srgbClr val="D9822B"/>
              </a:solidFill>
              <a:ln w="9525" cap="flat">
                <a:solidFill>
                  <a:srgbClr val="D9822B"/>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Sheet1!$C$2:$C$83</c:f>
              <c:numCache>
                <c:formatCode>General</c:formatCode>
                <c:ptCount val="82"/>
                <c:pt idx="0">
                  <c:v>45.1</c:v>
                </c:pt>
                <c:pt idx="1">
                  <c:v>45.1</c:v>
                </c:pt>
                <c:pt idx="2">
                  <c:v>45.1</c:v>
                </c:pt>
                <c:pt idx="3">
                  <c:v>45.1</c:v>
                </c:pt>
                <c:pt idx="4">
                  <c:v>45.1</c:v>
                </c:pt>
                <c:pt idx="5">
                  <c:v>45.1</c:v>
                </c:pt>
                <c:pt idx="6">
                  <c:v>45.1</c:v>
                </c:pt>
                <c:pt idx="7">
                  <c:v>45.1</c:v>
                </c:pt>
                <c:pt idx="8">
                  <c:v>45.1</c:v>
                </c:pt>
                <c:pt idx="9">
                  <c:v>45.1</c:v>
                </c:pt>
                <c:pt idx="10">
                  <c:v>45.1</c:v>
                </c:pt>
                <c:pt idx="11">
                  <c:v>45.1</c:v>
                </c:pt>
                <c:pt idx="12">
                  <c:v>45.1</c:v>
                </c:pt>
                <c:pt idx="13">
                  <c:v>45.1</c:v>
                </c:pt>
                <c:pt idx="14">
                  <c:v>45.1</c:v>
                </c:pt>
                <c:pt idx="15">
                  <c:v>45.1</c:v>
                </c:pt>
                <c:pt idx="16">
                  <c:v>45.1</c:v>
                </c:pt>
                <c:pt idx="17">
                  <c:v>45.1</c:v>
                </c:pt>
                <c:pt idx="18">
                  <c:v>45.1</c:v>
                </c:pt>
                <c:pt idx="19">
                  <c:v>45.1</c:v>
                </c:pt>
                <c:pt idx="20">
                  <c:v>45.1</c:v>
                </c:pt>
                <c:pt idx="21">
                  <c:v>45.1</c:v>
                </c:pt>
                <c:pt idx="22">
                  <c:v>45.1</c:v>
                </c:pt>
                <c:pt idx="23">
                  <c:v>45.1</c:v>
                </c:pt>
                <c:pt idx="24">
                  <c:v>45.1</c:v>
                </c:pt>
                <c:pt idx="25">
                  <c:v>45.1</c:v>
                </c:pt>
                <c:pt idx="26">
                  <c:v>45.1</c:v>
                </c:pt>
                <c:pt idx="27">
                  <c:v>45.1</c:v>
                </c:pt>
                <c:pt idx="28">
                  <c:v>45.1</c:v>
                </c:pt>
                <c:pt idx="29">
                  <c:v>45.1</c:v>
                </c:pt>
                <c:pt idx="30">
                  <c:v>45.1</c:v>
                </c:pt>
                <c:pt idx="31">
                  <c:v>45.1</c:v>
                </c:pt>
                <c:pt idx="32">
                  <c:v>45.1</c:v>
                </c:pt>
                <c:pt idx="33">
                  <c:v>45.1</c:v>
                </c:pt>
                <c:pt idx="34">
                  <c:v>45.1</c:v>
                </c:pt>
                <c:pt idx="35">
                  <c:v>45.1</c:v>
                </c:pt>
                <c:pt idx="36">
                  <c:v>45.1</c:v>
                </c:pt>
                <c:pt idx="37">
                  <c:v>45.1</c:v>
                </c:pt>
                <c:pt idx="38">
                  <c:v>45.1</c:v>
                </c:pt>
                <c:pt idx="39">
                  <c:v>45.1</c:v>
                </c:pt>
                <c:pt idx="40">
                  <c:v>45.1</c:v>
                </c:pt>
                <c:pt idx="41">
                  <c:v>45.1</c:v>
                </c:pt>
                <c:pt idx="42">
                  <c:v>45.1</c:v>
                </c:pt>
                <c:pt idx="43">
                  <c:v>45.1</c:v>
                </c:pt>
                <c:pt idx="44">
                  <c:v>45.1</c:v>
                </c:pt>
                <c:pt idx="45">
                  <c:v>45.1</c:v>
                </c:pt>
                <c:pt idx="46">
                  <c:v>45.1</c:v>
                </c:pt>
                <c:pt idx="47">
                  <c:v>45.1</c:v>
                </c:pt>
                <c:pt idx="48">
                  <c:v>45.1</c:v>
                </c:pt>
                <c:pt idx="49">
                  <c:v>45.1</c:v>
                </c:pt>
                <c:pt idx="50">
                  <c:v>45.1</c:v>
                </c:pt>
                <c:pt idx="51">
                  <c:v>45.1</c:v>
                </c:pt>
                <c:pt idx="52">
                  <c:v>45.1</c:v>
                </c:pt>
                <c:pt idx="53">
                  <c:v>45.1</c:v>
                </c:pt>
                <c:pt idx="54">
                  <c:v>45.1</c:v>
                </c:pt>
                <c:pt idx="55">
                  <c:v>45.1</c:v>
                </c:pt>
                <c:pt idx="56">
                  <c:v>45.1</c:v>
                </c:pt>
                <c:pt idx="57">
                  <c:v>45.1</c:v>
                </c:pt>
                <c:pt idx="58">
                  <c:v>45.1</c:v>
                </c:pt>
                <c:pt idx="59">
                  <c:v>45.1</c:v>
                </c:pt>
                <c:pt idx="60">
                  <c:v>45.1</c:v>
                </c:pt>
                <c:pt idx="61">
                  <c:v>45.1</c:v>
                </c:pt>
                <c:pt idx="62">
                  <c:v>45.1</c:v>
                </c:pt>
                <c:pt idx="63">
                  <c:v>45.1</c:v>
                </c:pt>
                <c:pt idx="64">
                  <c:v>45.1</c:v>
                </c:pt>
                <c:pt idx="65">
                  <c:v>45.1</c:v>
                </c:pt>
                <c:pt idx="66">
                  <c:v>45.1</c:v>
                </c:pt>
                <c:pt idx="67">
                  <c:v>45.1</c:v>
                </c:pt>
                <c:pt idx="68">
                  <c:v>45.1</c:v>
                </c:pt>
                <c:pt idx="69">
                  <c:v>45.1</c:v>
                </c:pt>
                <c:pt idx="70">
                  <c:v>45.1</c:v>
                </c:pt>
                <c:pt idx="71">
                  <c:v>45.1</c:v>
                </c:pt>
                <c:pt idx="72">
                  <c:v>45.1</c:v>
                </c:pt>
                <c:pt idx="73">
                  <c:v>45.1</c:v>
                </c:pt>
                <c:pt idx="74">
                  <c:v>45.1</c:v>
                </c:pt>
                <c:pt idx="75">
                  <c:v>45.1</c:v>
                </c:pt>
                <c:pt idx="76">
                  <c:v>45.1</c:v>
                </c:pt>
                <c:pt idx="77">
                  <c:v>45.1</c:v>
                </c:pt>
                <c:pt idx="78">
                  <c:v>45.1</c:v>
                </c:pt>
                <c:pt idx="79">
                  <c:v>45.1</c:v>
                </c:pt>
                <c:pt idx="80">
                  <c:v>45.1</c:v>
                </c:pt>
                <c:pt idx="81">
                  <c:v>45.1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900" b="0" i="0" u="none" strike="noStrike">
                    <a:solidFill>
                      <a:srgbClr val="5B6472"/>
                    </a:solidFill>
                    <a:latin typeface="+mn-lt"/>
                  </a:defRPr>
                </a:pPr>
                <a:r>
                  <a:rPr sz="900" b="0" i="0" u="none" strike="noStrike">
                    <a:solidFill>
                      <a:srgbClr val="5B6472"/>
                    </a:solidFill>
                    <a:latin typeface="+mn-lt"/>
                  </a:rPr>
                  <a:t>Share of questions answered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valAx>
      <c:valAx>
        <c:axId val="2094734552"/>
        <c:scaling>
          <c:orientation val="minMax"/>
          <c:max val="60"/>
          <c:min val="0"/>
        </c:scaling>
        <c:delete val="0"/>
        <c:axPos val="l"/>
        <c:majorGridlines>
          <c:spPr>
            <a:ln w="6350" cap="flat">
              <a:solidFill>
                <a:srgbClr val="E6E6E6"/>
              </a:solidFill>
              <a:prstDash val="solid"/>
              <a:round/>
            </a:ln>
          </c:spPr>
        </c:majorGridlines>
        <c:title>
          <c:tx>
            <c:rich>
              <a:bodyPr/>
              <a:lstStyle/>
              <a:p>
                <a:pPr>
                  <a:defRPr sz="900" b="0" i="0" u="none" strike="noStrike">
                    <a:solidFill>
                      <a:srgbClr val="5B6472"/>
                    </a:solidFill>
                    <a:latin typeface="+mn-lt"/>
                  </a:defRPr>
                </a:pPr>
                <a:r>
                  <a:rPr sz="900" b="0" i="0" u="none" strike="noStrike">
                    <a:solidFill>
                      <a:srgbClr val="5B6472"/>
                    </a:solidFill>
                    <a:latin typeface="+mn-lt"/>
                  </a:rPr>
                  <a:t>Wrong among answered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900">
              <a:solidFill>
                <a:srgbClr val="1E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Confidence minus actual accuracy, region held out (points)</a:t>
            </a:r>
          </a:p>
        </c:rich>
      </c:tx>
      <c:layout/>
      <c:overlay val="0"/>
    </c:title>
    <c:autoTitleDeleted val="0"/>
    <c:plotArea>
      <c:layout/>
      <c:barChart>
        <c:barDir val="bar"/>
        <c:grouping val="clustered"/>
        <c:varyColors val="0"/>
        <c:ser>
          <c:idx val="0"/>
          <c:order val="0"/>
          <c:tx>
            <c:strRef>
              <c:f>Sheet1!$B$1</c:f>
              <c:strCache>
                <c:ptCount val="1"/>
                <c:pt idx="0">
                  <c:v>Over-confidence (points)</c:v>
                </c:pt>
              </c:strCache>
            </c:strRef>
          </c:tx>
          <c:spPr>
            <a:solidFill>
              <a:srgbClr val="D9822B"/>
            </a:solidFill>
            <a:effectLst/>
          </c:spPr>
          <c:invertIfNegative val="0"/>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D9822B"/>
              </a:solidFill>
              <a:effectLst/>
            </c:spPr>
          </c:dPt>
          <c:dPt>
            <c:idx val="2"/>
            <c:invertIfNegative val="0"/>
            <c:bubble3D val="0"/>
            <c:spPr>
              <a:solidFill>
                <a:srgbClr val="D9822B"/>
              </a:solidFill>
              <a:effectLst/>
            </c:spPr>
          </c:dPt>
          <c:dPt>
            <c:idx val="3"/>
            <c:invertIfNegative val="0"/>
            <c:bubble3D val="0"/>
            <c:spPr>
              <a:solidFill>
                <a:srgbClr val="1F5A99"/>
              </a:solidFill>
              <a:effectLst/>
            </c:spPr>
          </c:dPt>
          <c:dPt>
            <c:idx val="4"/>
            <c:invertIfNegative val="0"/>
            <c:bubble3D val="0"/>
            <c:spPr>
              <a:solidFill>
                <a:srgbClr val="1F5A99"/>
              </a:solidFill>
              <a:effectLst/>
            </c:spPr>
          </c:dPt>
          <c:dPt>
            <c:idx val="5"/>
            <c:invertIfNegative val="0"/>
            <c:bubble3D val="0"/>
            <c:spPr>
              <a:solidFill>
                <a:srgbClr val="1F5A99"/>
              </a:solidFill>
              <a:effectLst/>
            </c:spPr>
          </c:dPt>
          <c:dPt>
            <c:idx val="6"/>
            <c:invertIfNegative val="0"/>
            <c:bubble3D val="0"/>
            <c:spPr>
              <a:solidFill>
                <a:srgbClr val="1F5A99"/>
              </a:solidFill>
              <a:effectLst/>
            </c:spPr>
          </c:dPt>
          <c:dPt>
            <c:idx val="7"/>
            <c:invertIfNegative val="0"/>
            <c:bubble3D val="0"/>
            <c:spPr>
              <a:solidFill>
                <a:srgbClr val="1F5A99"/>
              </a:solidFill>
              <a:effectLst/>
            </c:spPr>
          </c:dPt>
          <c:dPt>
            <c:idx val="8"/>
            <c:invertIfNegative val="0"/>
            <c:bubble3D val="0"/>
            <c:spPr>
              <a:solidFill>
                <a:srgbClr val="1F5A99"/>
              </a:solidFill>
              <a:effectLst/>
            </c:spPr>
          </c:dPt>
          <c:dPt>
            <c:idx val="9"/>
            <c:invertIfNegative val="0"/>
            <c:bubble3D val="0"/>
            <c:spPr>
              <a:solidFill>
                <a:srgbClr val="1F5A99"/>
              </a:solidFill>
              <a:effectLst/>
            </c:spPr>
          </c:dPt>
          <c:dPt>
            <c:idx val="10"/>
            <c:invertIfNegative val="0"/>
            <c:bubble3D val="0"/>
            <c:spPr>
              <a:solidFill>
                <a:srgbClr val="1F5A99"/>
              </a:solidFill>
              <a:effectLst/>
            </c:spPr>
          </c:dPt>
          <c:cat>
            <c:multiLvlStrRef>
              <c:f>Sheet1!$A$2:$A$12</c:f>
              <c:multiLvlStrCache>
                <c:ptCount val="11"/>
                <c:lvl>
                  <c:pt idx="0">
                    <c:v>Pakistan</c:v>
                  </c:pt>
                  <c:pt idx="1">
                    <c:v>India</c:v>
                  </c:pt>
                  <c:pt idx="2">
                    <c:v>Sri-Lanka</c:v>
                  </c:pt>
                  <c:pt idx="3">
                    <c:v>Somalia</c:v>
                  </c:pt>
                  <c:pt idx="4">
                    <c:v>Nigeria</c:v>
                  </c:pt>
                  <c:pt idx="5">
                    <c:v>Paraguay</c:v>
                  </c:pt>
                  <c:pt idx="6">
                    <c:v>Mekong</c:v>
                  </c:pt>
                  <c:pt idx="7">
                    <c:v>Bolivia</c:v>
                  </c:pt>
                  <c:pt idx="8">
                    <c:v>Spain</c:v>
                  </c:pt>
                  <c:pt idx="9">
                    <c:v>Ghana</c:v>
                  </c:pt>
                  <c:pt idx="10">
                    <c:v>USA</c:v>
                  </c:pt>
                </c:lvl>
              </c:multiLvlStrCache>
            </c:multiLvlStrRef>
          </c:cat>
          <c:val>
            <c:numRef>
              <c:f>Sheet1!$B$2:$B$12</c:f>
              <c:numCache>
                <c:formatCode>General</c:formatCode>
                <c:ptCount val="11"/>
                <c:pt idx="0">
                  <c:v>29</c:v>
                </c:pt>
                <c:pt idx="1">
                  <c:v>20</c:v>
                </c:pt>
                <c:pt idx="2">
                  <c:v>10</c:v>
                </c:pt>
                <c:pt idx="3">
                  <c:v>7</c:v>
                </c:pt>
                <c:pt idx="4">
                  <c:v>5</c:v>
                </c:pt>
                <c:pt idx="5">
                  <c:v>-2</c:v>
                </c:pt>
                <c:pt idx="6">
                  <c:v>-3</c:v>
                </c:pt>
                <c:pt idx="7">
                  <c:v>-4</c:v>
                </c:pt>
                <c:pt idx="8">
                  <c:v>-7</c:v>
                </c:pt>
                <c:pt idx="9">
                  <c:v>-13</c:v>
                </c:pt>
                <c:pt idx="10">
                  <c:v>-31</c:v>
                </c:pt>
              </c:numCache>
            </c:numRef>
          </c:val>
        </c:ser>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40"/>
          <c:min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Tellio in one line: plain-language flood questions answered with measured, checkable evidence, or an honest refusal. The map on the right is a real run on the Sentinel-1 pass over Barpeta on 11 July 2024. Note: that water figure includes the river and permanent wetlands; it is water extent, not verified flood extent.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Whose problem: district officials, insurance officers, fact-checkers. Why it lasts: questions are local and constant, answers are produced centrally; specialists are scarce; monsoon clouds return every year. Sources (docs/reference/problem-evidence.md, checked 2026-10-04 unless noted): Kosi 3 to 4 day updates, #4; PMFBY committee, #11 and #12 (re-read 2026-10-28); NITI Aayog planner figures re-read 2026-10-28; 2013 task force count, #21. Why chat AI does not fix it: it is fluent but cannot locate what you asked about, and it never tells you when to distrust it. Chart values are read from each paper's tables; benchmarks differ, so compare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states and ~300 maps: ISRO statement to the 62nd UN COPUOS STSC, item 6 (re-read 2026-10-28). 970,000 jobs and 'acute shortage': Rajesh Mathur, GSI 2025 slides (re-read 2026-10-28); the slide says 'expected to grow to 970,000 by 2025', a projection, not a count. 6-day Sentinel-1 revisit and free access: CDSE news 28 May 2026 and CDSE terms (problem-evidence.md #41 and #43, checked 2026-10-04). NISAR launched 30 July 2025 on GSLV-F16; the 'first dual-frequency' phrasing is widely repeated but we did not trace it to NASA, so the slide does not use it. NRSC chatbot proposal: Saxena and Rao, ISPRS Annals X-5/W2-2025 (#29, #56). NDEM Assam map caveats: #40. Things we do NOT claim: that any team was paid extra for Assam SAR work (no source found; COPUOS is a UN committee that sets no pay), or that India leads the world in SAR (no ranking source found). Safe wording: India co-built NISAR and runs operational SAR flood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flip: in chat assistants the model produces the answer. In Tellio a transparent instrument measures, a calibration fitted on hand-labelled flood chips turns its score into a probability, and the card is published only at 0.60 or above. Below that it says so and offers the next useful question. Both cards on this slide are from real runs on live Sentinel-1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answering, 45% of area answers on held-out chips are wrong. Publishing only at calibrated confidence 0.60 or above, Tellio answers 43% of questions and 26% of those are wrong (95% bootstrap interval 12 to 41%). We are clear that the detector is not better than published baselines: per-chip IoU 0.362 vs 0.359 for Otsu in the Sen1Floods11 paper. The contribution is how answers are gated, receipted and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we think matters beyond our system. Leave one flood event out, fit the calibration on the rest, and test on the held-out event. All three South Asian events are over-confident; the USA is under-confident. Any assistant that states a confidence without local calibration has this problem. Refitting only the intercept on eight labelled Indian chips removes the over-confidence and cuts wrong published answers from 55% to 28%, but the honest system then answers only about 13% of Indian questions. Limitation: the 64 Indian chips come from one Sen1Floods11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every ingredient exists somewhere in partial form, but after reading the 37 closest papers in full, no research system delivers more than one of these six in full, and none tells a non-expert when not to trust an answer. The bottleneck we found is local labels and instrument quality, not bigger language models. Next: improve the instrument, gather Indian labels across events, run a small user study, and submit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182880"/>
            <a:ext cx="1554480" cy="384048"/>
          </a:xfrm>
          <a:prstGeom prst="rect">
            <a:avLst/>
          </a:prstGeom>
          <a:noFill/>
          <a:ln/>
        </p:spPr>
        <p:txBody>
          <a:bodyPr wrap="square" lIns="0" tIns="0" rIns="0" bIns="0" rtlCol="0" anchor="ctr"/>
          <a:lstStyle/>
          <a:p>
            <a:pPr algn="r" indent="0" marL="0">
              <a:buNone/>
            </a:pPr>
            <a:r>
              <a:rPr lang="en-US" sz="1800" b="1" dirty="0">
                <a:solidFill>
                  <a:schemeClr val="accent1"/>
                </a:solidFill>
                <a:latin typeface="Calibri" pitchFamily="34" charset="0"/>
                <a:ea typeface="Calibri" pitchFamily="34" charset="-122"/>
                <a:cs typeface="Calibri" pitchFamily="34" charset="-120"/>
              </a:rPr>
              <a:t>Tellio</a:t>
            </a:r>
            <a:endParaRPr lang="en-US" sz="1800" dirty="0"/>
          </a:p>
        </p:txBody>
      </p:sp>
      <p:sp>
        <p:nvSpPr>
          <p:cNvPr id="3" name="Shape 1"/>
          <p:cNvSpPr/>
          <p:nvPr/>
        </p:nvSpPr>
        <p:spPr>
          <a:xfrm>
            <a:off x="0" y="4846320"/>
            <a:ext cx="9144000" cy="297180"/>
          </a:xfrm>
          <a:prstGeom prst="rect">
            <a:avLst/>
          </a:prstGeom>
          <a:solidFill>
            <a:schemeClr val="accent1"/>
          </a:solidFill>
          <a:ln/>
        </p:spPr>
      </p:sp>
      <p:sp>
        <p:nvSpPr>
          <p:cNvPr id="4" name="Text 2"/>
          <p:cNvSpPr/>
          <p:nvPr/>
        </p:nvSpPr>
        <p:spPr>
          <a:xfrm>
            <a:off x="274320" y="4846320"/>
            <a:ext cx="6400800" cy="297180"/>
          </a:xfrm>
          <a:prstGeom prst="rect">
            <a:avLst/>
          </a:prstGeom>
          <a:noFill/>
          <a:ln/>
        </p:spPr>
        <p:txBody>
          <a:bodyPr wrap="square" lIns="0" tIns="0" rIns="0" bIns="0" rtlCol="0" anchor="ctr"/>
          <a:lstStyle/>
          <a:p>
            <a:pPr indent="0" marL="0">
              <a:buNone/>
            </a:pPr>
            <a:r>
              <a:rPr lang="en-US" sz="1000" dirty="0">
                <a:solidFill>
                  <a:schemeClr val="bg1"/>
                </a:solidFill>
              </a:rPr>
              <a:t>Tellio  |  measured satellite answers you can check</a:t>
            </a:r>
            <a:endParaRPr lang="en-US" sz="1000" dirty="0"/>
          </a:p>
        </p:txBody>
      </p:sp>
      <p:sp>
        <p:nvSpPr>
          <p:cNvPr id="5" name="Text 3"/>
          <p:cNvSpPr/>
          <p:nvPr>
            <p:ph idx="103" type="title" hasCustomPrompt="1"/>
          </p:nvPr>
        </p:nvSpPr>
        <p:spPr>
          <a:xfrm>
            <a:off x="1463040" y="128016"/>
            <a:ext cx="6035040" cy="512064"/>
          </a:xfrm>
          <a:prstGeom prst="rect">
            <a:avLst/>
          </a:prstGeom>
          <a:noFill/>
          <a:ln/>
        </p:spPr>
        <p:txBody>
          <a:bodyPr wrap="square" rtlCol="0"/>
          <a:lstStyle>
            <a:lvl1pPr algn="ctr" indent="0" marL="0">
              <a:buNone/>
              <a:defRPr lang="en-US" sz="2600" b="1" dirty="0">
                <a:solidFill>
                  <a:schemeClr val="tx1"/>
                </a:solidFill>
                <a:latin typeface="Times New Roman" pitchFamily="34" charset="0"/>
                <a:ea typeface="Times New Roman" pitchFamily="34" charset="-122"/>
                <a:cs typeface="Times New Roman" pitchFamily="34" charset="-120"/>
              </a:defRPr>
            </a:lvl1pPr>
          </a:lstStyle>
          <a:p>
            <a:pPr algn="ctr" indent="0" marL="0">
              <a:buNone/>
            </a:pPr>
            <a:endParaRPr lang="en-US" sz="26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chemeClr val="accent1"/>
          </a:solidFill>
          <a:ln/>
        </p:spPr>
      </p:sp>
      <p:sp>
        <p:nvSpPr>
          <p:cNvPr id="3" name="Text 1"/>
          <p:cNvSpPr/>
          <p:nvPr/>
        </p:nvSpPr>
        <p:spPr>
          <a:xfrm>
            <a:off x="274320" y="4846320"/>
            <a:ext cx="7315200" cy="297180"/>
          </a:xfrm>
          <a:prstGeom prst="rect">
            <a:avLst/>
          </a:prstGeom>
          <a:noFill/>
          <a:ln/>
        </p:spPr>
        <p:txBody>
          <a:bodyPr wrap="square" lIns="0" tIns="0" rIns="0" bIns="0" rtlCol="0" anchor="ctr"/>
          <a:lstStyle/>
          <a:p>
            <a:pPr indent="0" marL="0">
              <a:buNone/>
            </a:pPr>
            <a:r>
              <a:rPr lang="en-US" sz="1000" dirty="0">
                <a:solidFill>
                  <a:schemeClr val="bg1"/>
                </a:solidFill>
              </a:rPr>
              <a:t>Team Stardust  |  RV Institute of Technology and Management, Bengaluru</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rpeta map" descr="Tellio map of Sentinel-1 water over Barpeta district, 11 July 2024">    </p:cNvPr>
          <p:cNvPicPr>
            <a:picLocks noChangeAspect="1"/>
          </p:cNvPicPr>
          <p:nvPr/>
        </p:nvPicPr>
        <p:blipFill>
          <a:blip r:embed="rId1"/>
          <a:stretch>
            <a:fillRect/>
          </a:stretch>
        </p:blipFill>
        <p:spPr>
          <a:xfrm>
            <a:off x="5257800" y="411480"/>
            <a:ext cx="3520440" cy="3776472"/>
          </a:xfrm>
          <a:prstGeom prst="rect">
            <a:avLst/>
          </a:prstGeom>
        </p:spPr>
      </p:pic>
      <p:sp>
        <p:nvSpPr>
          <p:cNvPr id="3" name="Shape 0"/>
          <p:cNvSpPr/>
          <p:nvPr/>
        </p:nvSpPr>
        <p:spPr>
          <a:xfrm>
            <a:off x="457200" y="457200"/>
            <a:ext cx="1051560" cy="384048"/>
          </a:xfrm>
          <a:prstGeom prst="roundRect">
            <a:avLst>
              <a:gd name="adj" fmla="val 50000"/>
            </a:avLst>
          </a:prstGeom>
          <a:solidFill>
            <a:schemeClr val="bg1"/>
          </a:solidFill>
          <a:ln w="15875">
            <a:solidFill>
              <a:schemeClr val="accent1"/>
            </a:solidFill>
            <a:prstDash val="solid"/>
          </a:ln>
        </p:spPr>
      </p:sp>
      <p:sp>
        <p:nvSpPr>
          <p:cNvPr id="4" name="Text 1"/>
          <p:cNvSpPr txBox="1"/>
          <p:nvPr/>
        </p:nvSpPr>
        <p:spPr>
          <a:xfrm>
            <a:off x="457200" y="45720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5" name="Text 2"/>
          <p:cNvSpPr txBox="1"/>
          <p:nvPr/>
        </p:nvSpPr>
        <p:spPr>
          <a:xfrm>
            <a:off x="457200" y="1051560"/>
            <a:ext cx="4572000" cy="822960"/>
          </a:xfrm>
          <a:prstGeom prst="rect">
            <a:avLst/>
          </a:prstGeom>
          <a:noFill/>
          <a:ln/>
        </p:spPr>
        <p:txBody>
          <a:bodyPr wrap="square" lIns="0" tIns="0" rIns="0" bIns="0" rtlCol="0" anchor="ctr"/>
          <a:lstStyle/>
          <a:p>
            <a:pPr indent="0" marL="0">
              <a:buNone/>
            </a:pPr>
            <a:r>
              <a:rPr lang="en-US" sz="4800" b="1" dirty="0">
                <a:solidFill>
                  <a:schemeClr val="accent1"/>
                </a:solidFill>
                <a:latin typeface="Times New Roman" pitchFamily="34" charset="0"/>
                <a:ea typeface="Times New Roman" pitchFamily="34" charset="-122"/>
                <a:cs typeface="Times New Roman" pitchFamily="34" charset="-120"/>
              </a:rPr>
              <a:t>Tellio</a:t>
            </a:r>
            <a:endParaRPr lang="en-US" sz="4800" dirty="0"/>
          </a:p>
        </p:txBody>
      </p:sp>
      <p:sp>
        <p:nvSpPr>
          <p:cNvPr id="6" name="Text 3"/>
          <p:cNvSpPr txBox="1"/>
          <p:nvPr/>
        </p:nvSpPr>
        <p:spPr>
          <a:xfrm>
            <a:off x="457200" y="1874520"/>
            <a:ext cx="4663440" cy="457200"/>
          </a:xfrm>
          <a:prstGeom prst="rect">
            <a:avLst/>
          </a:prstGeom>
          <a:noFill/>
          <a:ln/>
        </p:spPr>
        <p:txBody>
          <a:bodyPr wrap="square" lIns="0" tIns="0" rIns="0" bIns="0" rtlCol="0" anchor="ctr"/>
          <a:lstStyle/>
          <a:p>
            <a:pPr indent="0" marL="0">
              <a:buNone/>
            </a:pPr>
            <a:r>
              <a:rPr lang="en-US" sz="2200" dirty="0">
                <a:solidFill>
                  <a:schemeClr val="tx1"/>
                </a:solidFill>
                <a:latin typeface="Times New Roman" pitchFamily="34" charset="0"/>
                <a:ea typeface="Times New Roman" pitchFamily="34" charset="-122"/>
                <a:cs typeface="Times New Roman" pitchFamily="34" charset="-120"/>
              </a:rPr>
              <a:t>An answer you can check</a:t>
            </a:r>
            <a:endParaRPr lang="en-US" sz="2200" dirty="0"/>
          </a:p>
        </p:txBody>
      </p:sp>
      <p:sp>
        <p:nvSpPr>
          <p:cNvPr id="7" name="Text 4"/>
          <p:cNvSpPr txBox="1"/>
          <p:nvPr/>
        </p:nvSpPr>
        <p:spPr>
          <a:xfrm>
            <a:off x="457200" y="2468880"/>
            <a:ext cx="4572000" cy="960120"/>
          </a:xfrm>
          <a:prstGeom prst="rect">
            <a:avLst/>
          </a:prstGeom>
          <a:noFill/>
          <a:ln/>
        </p:spPr>
        <p:txBody>
          <a:bodyPr wrap="square" lIns="0" tIns="0" rIns="0" bIns="0" rtlCol="0" anchor="t"/>
          <a:lstStyle/>
          <a:p>
            <a:pPr indent="0" marL="0">
              <a:buNone/>
            </a:pPr>
            <a:r>
              <a:rPr lang="en-US" sz="1400" dirty="0">
                <a:solidFill>
                  <a:srgbClr val="5B6472"/>
                </a:solidFill>
              </a:rPr>
              <a:t>Ask a question about floods in your district. Get the answer from satellite radar, with the proof, or an honest "we can't tell yet".</a:t>
            </a:r>
            <a:endParaRPr lang="en-US" sz="1400" dirty="0"/>
          </a:p>
        </p:txBody>
      </p:sp>
      <p:sp>
        <p:nvSpPr>
          <p:cNvPr id="8" name="Text 5"/>
          <p:cNvSpPr txBox="1"/>
          <p:nvPr/>
        </p:nvSpPr>
        <p:spPr>
          <a:xfrm>
            <a:off x="457200" y="3474720"/>
            <a:ext cx="4572000" cy="457200"/>
          </a:xfrm>
          <a:prstGeom prst="rect">
            <a:avLst/>
          </a:prstGeom>
          <a:noFill/>
          <a:ln/>
        </p:spPr>
        <p:txBody>
          <a:bodyPr wrap="square" lIns="0" tIns="0" rIns="0" bIns="0" rtlCol="0" anchor="ctr"/>
          <a:lstStyle/>
          <a:p>
            <a:pPr indent="0" marL="0">
              <a:buNone/>
            </a:pPr>
            <a:r>
              <a:rPr lang="en-US" sz="1100" b="1" dirty="0">
                <a:solidFill>
                  <a:schemeClr val="accent1"/>
                </a:solidFill>
              </a:rPr>
              <a:t>~300 </a:t>
            </a:r>
            <a:pPr indent="0" marL="0">
              <a:buNone/>
            </a:pPr>
            <a:r>
              <a:rPr lang="en-US" sz="1100" dirty="0">
                <a:solidFill>
                  <a:schemeClr val="tx1"/>
                </a:solidFill>
              </a:rPr>
              <a:t>flood maps for 700+ districts   </a:t>
            </a:r>
            <a:pPr indent="0" marL="0">
              <a:buNone/>
            </a:pPr>
            <a:r>
              <a:rPr lang="en-US" sz="1100" b="1" dirty="0">
                <a:solidFill>
                  <a:schemeClr val="accent1"/>
                </a:solidFill>
              </a:rPr>
              <a:t>60%+ </a:t>
            </a:r>
            <a:pPr indent="0" marL="0">
              <a:buNone/>
            </a:pPr>
            <a:r>
              <a:rPr lang="en-US" sz="1100" dirty="0">
                <a:solidFill>
                  <a:schemeClr val="tx1"/>
                </a:solidFill>
              </a:rPr>
              <a:t>monsoon cloud   </a:t>
            </a:r>
            <a:pPr indent="0" marL="0">
              <a:buNone/>
            </a:pPr>
            <a:r>
              <a:rPr lang="en-US" sz="1100" b="1" dirty="0">
                <a:solidFill>
                  <a:schemeClr val="accent1"/>
                </a:solidFill>
              </a:rPr>
              <a:t>800 to 1,200 </a:t>
            </a:r>
            <a:pPr indent="0" marL="0">
              <a:buNone/>
            </a:pPr>
            <a:r>
              <a:rPr lang="en-US" sz="1100" dirty="0">
                <a:solidFill>
                  <a:schemeClr val="tx1"/>
                </a:solidFill>
              </a:rPr>
              <a:t>geospatial graduates (2013)</a:t>
            </a:r>
            <a:endParaRPr lang="en-US" sz="1100" dirty="0"/>
          </a:p>
        </p:txBody>
      </p:sp>
      <p:sp>
        <p:nvSpPr>
          <p:cNvPr id="9" name="Text 6"/>
          <p:cNvSpPr txBox="1"/>
          <p:nvPr/>
        </p:nvSpPr>
        <p:spPr>
          <a:xfrm>
            <a:off x="457200" y="4114800"/>
            <a:ext cx="4572000" cy="548640"/>
          </a:xfrm>
          <a:prstGeom prst="rect">
            <a:avLst/>
          </a:prstGeom>
          <a:noFill/>
          <a:ln/>
        </p:spPr>
        <p:txBody>
          <a:bodyPr wrap="square" lIns="0" tIns="0" rIns="0" bIns="0" rtlCol="0" anchor="ctr"/>
          <a:lstStyle/>
          <a:p>
            <a:pPr indent="0" marL="0">
              <a:buNone/>
            </a:pPr>
            <a:r>
              <a:rPr lang="en-US" sz="1100" dirty="0">
                <a:solidFill>
                  <a:srgbClr val="5B6472"/>
                </a:solidFill>
              </a:rPr>
              <a:t>Sai Bhuwan S  ·  Yashita Mandavilli  ·  Raj Venkat  ·  Nikhil S Rao  ·  Shashwat Mittal  ·  Sasanuru Anirudh</a:t>
            </a:r>
            <a:endParaRPr lang="en-US" sz="1100" dirty="0"/>
          </a:p>
        </p:txBody>
      </p:sp>
      <p:sp>
        <p:nvSpPr>
          <p:cNvPr id="10" name="Text 7"/>
          <p:cNvSpPr txBox="1"/>
          <p:nvPr/>
        </p:nvSpPr>
        <p:spPr>
          <a:xfrm>
            <a:off x="5257800" y="4224528"/>
            <a:ext cx="3520440" cy="274320"/>
          </a:xfrm>
          <a:prstGeom prst="rect">
            <a:avLst/>
          </a:prstGeom>
          <a:noFill/>
          <a:ln/>
        </p:spPr>
        <p:txBody>
          <a:bodyPr wrap="square" lIns="0" tIns="0" rIns="0" bIns="0" rtlCol="0" anchor="ctr"/>
          <a:lstStyle/>
          <a:p>
            <a:pPr algn="r" indent="0" marL="0">
              <a:buNone/>
            </a:pPr>
            <a:r>
              <a:rPr lang="en-US" sz="1000" dirty="0">
                <a:solidFill>
                  <a:srgbClr val="5B6472"/>
                </a:solidFill>
              </a:rPr>
              <a:t>Barpeta, Assam · Sentinel-1 · 11 Jul 2024 · live run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The Problem That Does Not Go Away</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WHO LOSES TIME TODAY</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WHY TODAY'S AI DOES NOT FIX IT</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hape 6"/>
          <p:cNvSpPr/>
          <p:nvPr/>
        </p:nvSpPr>
        <p:spPr>
          <a:xfrm>
            <a:off x="320040" y="1133856"/>
            <a:ext cx="365760" cy="365760"/>
          </a:xfrm>
          <a:prstGeom prst="ellipse">
            <a:avLst/>
          </a:prstGeom>
          <a:solidFill>
            <a:schemeClr val="bg2"/>
          </a:solidFill>
          <a:ln w="12700">
            <a:solidFill>
              <a:schemeClr val="bg2"/>
            </a:solidFill>
            <a:prstDash val="solid"/>
          </a:ln>
        </p:spPr>
      </p:sp>
      <p:pic>
        <p:nvPicPr>
          <p:cNvPr id="9" name="Image 0" descr="preencoded.png">    </p:cNvPr>
          <p:cNvPicPr>
            <a:picLocks noChangeAspect="1"/>
          </p:cNvPicPr>
          <p:nvPr/>
        </p:nvPicPr>
        <p:blipFill>
          <a:blip r:embed="rId1"/>
          <a:stretch>
            <a:fillRect/>
          </a:stretch>
        </p:blipFill>
        <p:spPr>
          <a:xfrm>
            <a:off x="411480" y="1225296"/>
            <a:ext cx="182880" cy="182880"/>
          </a:xfrm>
          <a:prstGeom prst="rect">
            <a:avLst/>
          </a:prstGeom>
        </p:spPr>
      </p:pic>
      <p:sp>
        <p:nvSpPr>
          <p:cNvPr id="10" name="Text 7"/>
          <p:cNvSpPr txBox="1"/>
          <p:nvPr/>
        </p:nvSpPr>
        <p:spPr>
          <a:xfrm>
            <a:off x="822960" y="1097280"/>
            <a:ext cx="3611880" cy="201168"/>
          </a:xfrm>
          <a:prstGeom prst="rect">
            <a:avLst/>
          </a:prstGeom>
          <a:noFill/>
          <a:ln/>
        </p:spPr>
        <p:txBody>
          <a:bodyPr wrap="square" lIns="0" tIns="0" rIns="0" bIns="0" rtlCol="0" anchor="ctr"/>
          <a:lstStyle/>
          <a:p>
            <a:pPr indent="0" marL="0">
              <a:buNone/>
            </a:pPr>
            <a:r>
              <a:rPr lang="en-US" sz="1200" b="1" dirty="0">
                <a:solidFill>
                  <a:schemeClr val="tx1"/>
                </a:solidFill>
              </a:rPr>
              <a:t>District disaster officials</a:t>
            </a:r>
            <a:endParaRPr lang="en-US" sz="1200" dirty="0"/>
          </a:p>
        </p:txBody>
      </p:sp>
      <p:sp>
        <p:nvSpPr>
          <p:cNvPr id="11" name="Text 8"/>
          <p:cNvSpPr txBox="1"/>
          <p:nvPr/>
        </p:nvSpPr>
        <p:spPr>
          <a:xfrm>
            <a:off x="822960" y="1298448"/>
            <a:ext cx="3611880" cy="310896"/>
          </a:xfrm>
          <a:prstGeom prst="rect">
            <a:avLst/>
          </a:prstGeom>
          <a:noFill/>
          <a:ln/>
        </p:spPr>
        <p:txBody>
          <a:bodyPr wrap="square" lIns="0" tIns="0" rIns="0" bIns="0" rtlCol="0" anchor="t"/>
          <a:lstStyle/>
          <a:p>
            <a:pPr indent="0" marL="0">
              <a:buNone/>
            </a:pPr>
            <a:r>
              <a:rPr lang="en-US" sz="1000" dirty="0">
                <a:solidFill>
                  <a:srgbClr val="5B6472"/>
                </a:solidFill>
              </a:rPr>
              <a:t>Central maps only: about 300 in 2024 for 700+ districts. In the Kosi breach, updates came every 3 to 4 days.</a:t>
            </a:r>
            <a:endParaRPr lang="en-US" sz="1000" dirty="0"/>
          </a:p>
        </p:txBody>
      </p:sp>
      <p:sp>
        <p:nvSpPr>
          <p:cNvPr id="12" name="Shape 9"/>
          <p:cNvSpPr/>
          <p:nvPr/>
        </p:nvSpPr>
        <p:spPr>
          <a:xfrm>
            <a:off x="320040" y="1645920"/>
            <a:ext cx="365760" cy="365760"/>
          </a:xfrm>
          <a:prstGeom prst="ellipse">
            <a:avLst/>
          </a:prstGeom>
          <a:solidFill>
            <a:schemeClr val="bg2"/>
          </a:solidFill>
          <a:ln w="12700">
            <a:solidFill>
              <a:schemeClr val="bg2"/>
            </a:solidFill>
            <a:prstDash val="solid"/>
          </a:ln>
        </p:spPr>
      </p:sp>
      <p:pic>
        <p:nvPicPr>
          <p:cNvPr id="13" name="Image 1" descr="preencoded.png">    </p:cNvPr>
          <p:cNvPicPr>
            <a:picLocks noChangeAspect="1"/>
          </p:cNvPicPr>
          <p:nvPr/>
        </p:nvPicPr>
        <p:blipFill>
          <a:blip r:embed="rId2"/>
          <a:stretch>
            <a:fillRect/>
          </a:stretch>
        </p:blipFill>
        <p:spPr>
          <a:xfrm>
            <a:off x="411480" y="1737360"/>
            <a:ext cx="182880" cy="182880"/>
          </a:xfrm>
          <a:prstGeom prst="rect">
            <a:avLst/>
          </a:prstGeom>
        </p:spPr>
      </p:pic>
      <p:sp>
        <p:nvSpPr>
          <p:cNvPr id="14" name="Text 10"/>
          <p:cNvSpPr txBox="1"/>
          <p:nvPr/>
        </p:nvSpPr>
        <p:spPr>
          <a:xfrm>
            <a:off x="822960" y="1609344"/>
            <a:ext cx="3611880" cy="201168"/>
          </a:xfrm>
          <a:prstGeom prst="rect">
            <a:avLst/>
          </a:prstGeom>
          <a:noFill/>
          <a:ln/>
        </p:spPr>
        <p:txBody>
          <a:bodyPr wrap="square" lIns="0" tIns="0" rIns="0" bIns="0" rtlCol="0" anchor="ctr"/>
          <a:lstStyle/>
          <a:p>
            <a:pPr indent="0" marL="0">
              <a:buNone/>
            </a:pPr>
            <a:r>
              <a:rPr lang="en-US" sz="1200" b="1" dirty="0">
                <a:solidFill>
                  <a:schemeClr val="tx1"/>
                </a:solidFill>
              </a:rPr>
              <a:t>Crop insurance officers</a:t>
            </a:r>
            <a:endParaRPr lang="en-US" sz="1200" dirty="0"/>
          </a:p>
        </p:txBody>
      </p:sp>
      <p:sp>
        <p:nvSpPr>
          <p:cNvPr id="15" name="Text 11"/>
          <p:cNvSpPr txBox="1"/>
          <p:nvPr/>
        </p:nvSpPr>
        <p:spPr>
          <a:xfrm>
            <a:off x="822960" y="1810512"/>
            <a:ext cx="3611880" cy="310896"/>
          </a:xfrm>
          <a:prstGeom prst="rect">
            <a:avLst/>
          </a:prstGeom>
          <a:noFill/>
          <a:ln/>
        </p:spPr>
        <p:txBody>
          <a:bodyPr wrap="square" lIns="0" tIns="0" rIns="0" bIns="0" rtlCol="0" anchor="t"/>
          <a:lstStyle/>
          <a:p>
            <a:pPr indent="0" marL="0">
              <a:buNone/>
            </a:pPr>
            <a:r>
              <a:rPr lang="en-US" sz="1000" dirty="0">
                <a:solidFill>
                  <a:srgbClr val="5B6472"/>
                </a:solidFill>
              </a:rPr>
              <a:t>A parliamentary committee named claim delays a top PMFBY problem and urged satellite sampling.</a:t>
            </a:r>
            <a:endParaRPr lang="en-US" sz="1000" dirty="0"/>
          </a:p>
        </p:txBody>
      </p:sp>
      <p:sp>
        <p:nvSpPr>
          <p:cNvPr id="16" name="Shape 12"/>
          <p:cNvSpPr/>
          <p:nvPr/>
        </p:nvSpPr>
        <p:spPr>
          <a:xfrm>
            <a:off x="320040" y="2157984"/>
            <a:ext cx="365760" cy="365760"/>
          </a:xfrm>
          <a:prstGeom prst="ellipse">
            <a:avLst/>
          </a:prstGeom>
          <a:solidFill>
            <a:schemeClr val="bg2"/>
          </a:solidFill>
          <a:ln w="12700">
            <a:solidFill>
              <a:schemeClr val="bg2"/>
            </a:solidFill>
            <a:prstDash val="solid"/>
          </a:ln>
        </p:spPr>
      </p:sp>
      <p:pic>
        <p:nvPicPr>
          <p:cNvPr id="17" name="Image 2" descr="preencoded.png">    </p:cNvPr>
          <p:cNvPicPr>
            <a:picLocks noChangeAspect="1"/>
          </p:cNvPicPr>
          <p:nvPr/>
        </p:nvPicPr>
        <p:blipFill>
          <a:blip r:embed="rId3"/>
          <a:stretch>
            <a:fillRect/>
          </a:stretch>
        </p:blipFill>
        <p:spPr>
          <a:xfrm>
            <a:off x="411480" y="2249424"/>
            <a:ext cx="182880" cy="182880"/>
          </a:xfrm>
          <a:prstGeom prst="rect">
            <a:avLst/>
          </a:prstGeom>
        </p:spPr>
      </p:pic>
      <p:sp>
        <p:nvSpPr>
          <p:cNvPr id="18" name="Text 13"/>
          <p:cNvSpPr txBox="1"/>
          <p:nvPr/>
        </p:nvSpPr>
        <p:spPr>
          <a:xfrm>
            <a:off x="822960" y="2121408"/>
            <a:ext cx="3611880" cy="201168"/>
          </a:xfrm>
          <a:prstGeom prst="rect">
            <a:avLst/>
          </a:prstGeom>
          <a:noFill/>
          <a:ln/>
        </p:spPr>
        <p:txBody>
          <a:bodyPr wrap="square" lIns="0" tIns="0" rIns="0" bIns="0" rtlCol="0" anchor="ctr"/>
          <a:lstStyle/>
          <a:p>
            <a:pPr indent="0" marL="0">
              <a:buNone/>
            </a:pPr>
            <a:r>
              <a:rPr lang="en-US" sz="1200" b="1" dirty="0">
                <a:solidFill>
                  <a:schemeClr val="tx1"/>
                </a:solidFill>
              </a:rPr>
              <a:t>Town planners</a:t>
            </a:r>
            <a:endParaRPr lang="en-US" sz="1200" dirty="0"/>
          </a:p>
        </p:txBody>
      </p:sp>
      <p:sp>
        <p:nvSpPr>
          <p:cNvPr id="19" name="Text 14"/>
          <p:cNvSpPr txBox="1"/>
          <p:nvPr/>
        </p:nvSpPr>
        <p:spPr>
          <a:xfrm>
            <a:off x="822960" y="2322576"/>
            <a:ext cx="3611880" cy="310896"/>
          </a:xfrm>
          <a:prstGeom prst="rect">
            <a:avLst/>
          </a:prstGeom>
          <a:noFill/>
          <a:ln/>
        </p:spPr>
        <p:txBody>
          <a:bodyPr wrap="square" lIns="0" tIns="0" rIns="0" bIns="0" rtlCol="0" anchor="t"/>
          <a:lstStyle/>
          <a:p>
            <a:pPr indent="0" marL="0">
              <a:buNone/>
            </a:pPr>
            <a:r>
              <a:rPr lang="en-US" sz="1000" dirty="0">
                <a:solidFill>
                  <a:srgbClr val="5B6472"/>
                </a:solidFill>
              </a:rPr>
              <a:t>65% of 7,933 towns have no master plan; up to 42% of planner posts are vacant.</a:t>
            </a:r>
            <a:endParaRPr lang="en-US" sz="1000" dirty="0"/>
          </a:p>
        </p:txBody>
      </p:sp>
      <p:sp>
        <p:nvSpPr>
          <p:cNvPr id="20" name="Shape 15"/>
          <p:cNvSpPr/>
          <p:nvPr/>
        </p:nvSpPr>
        <p:spPr>
          <a:xfrm>
            <a:off x="320040" y="2670048"/>
            <a:ext cx="365760" cy="365760"/>
          </a:xfrm>
          <a:prstGeom prst="ellipse">
            <a:avLst/>
          </a:prstGeom>
          <a:solidFill>
            <a:schemeClr val="bg2"/>
          </a:solidFill>
          <a:ln w="12700">
            <a:solidFill>
              <a:schemeClr val="bg2"/>
            </a:solidFill>
            <a:prstDash val="solid"/>
          </a:ln>
        </p:spPr>
      </p:sp>
      <p:pic>
        <p:nvPicPr>
          <p:cNvPr id="21" name="Image 3" descr="preencoded.png">    </p:cNvPr>
          <p:cNvPicPr>
            <a:picLocks noChangeAspect="1"/>
          </p:cNvPicPr>
          <p:nvPr/>
        </p:nvPicPr>
        <p:blipFill>
          <a:blip r:embed="rId4"/>
          <a:stretch>
            <a:fillRect/>
          </a:stretch>
        </p:blipFill>
        <p:spPr>
          <a:xfrm>
            <a:off x="411480" y="2761488"/>
            <a:ext cx="182880" cy="182880"/>
          </a:xfrm>
          <a:prstGeom prst="rect">
            <a:avLst/>
          </a:prstGeom>
        </p:spPr>
      </p:pic>
      <p:sp>
        <p:nvSpPr>
          <p:cNvPr id="22" name="Text 16"/>
          <p:cNvSpPr txBox="1"/>
          <p:nvPr/>
        </p:nvSpPr>
        <p:spPr>
          <a:xfrm>
            <a:off x="822960" y="2633472"/>
            <a:ext cx="3611880" cy="201168"/>
          </a:xfrm>
          <a:prstGeom prst="rect">
            <a:avLst/>
          </a:prstGeom>
          <a:noFill/>
          <a:ln/>
        </p:spPr>
        <p:txBody>
          <a:bodyPr wrap="square" lIns="0" tIns="0" rIns="0" bIns="0" rtlCol="0" anchor="ctr"/>
          <a:lstStyle/>
          <a:p>
            <a:pPr indent="0" marL="0">
              <a:buNone/>
            </a:pPr>
            <a:r>
              <a:rPr lang="en-US" sz="1200" b="1" dirty="0">
                <a:solidFill>
                  <a:schemeClr val="tx1"/>
                </a:solidFill>
              </a:rPr>
              <a:t>Journalists, fact-checkers</a:t>
            </a:r>
            <a:endParaRPr lang="en-US" sz="1200" dirty="0"/>
          </a:p>
        </p:txBody>
      </p:sp>
      <p:sp>
        <p:nvSpPr>
          <p:cNvPr id="23" name="Text 17"/>
          <p:cNvSpPr txBox="1"/>
          <p:nvPr/>
        </p:nvSpPr>
        <p:spPr>
          <a:xfrm>
            <a:off x="822960" y="2834640"/>
            <a:ext cx="3611880" cy="310896"/>
          </a:xfrm>
          <a:prstGeom prst="rect">
            <a:avLst/>
          </a:prstGeom>
          <a:noFill/>
          <a:ln/>
        </p:spPr>
        <p:txBody>
          <a:bodyPr wrap="square" lIns="0" tIns="0" rIns="0" bIns="0" rtlCol="0" anchor="t"/>
          <a:lstStyle/>
          <a:p>
            <a:pPr indent="0" marL="0">
              <a:buNone/>
            </a:pPr>
            <a:r>
              <a:rPr lang="en-US" sz="1000" dirty="0">
                <a:solidFill>
                  <a:srgbClr val="5B6472"/>
                </a:solidFill>
              </a:rPr>
              <a:t>Free tools assume you know which sensor and band to use.</a:t>
            </a:r>
            <a:endParaRPr lang="en-US" sz="1000" dirty="0"/>
          </a:p>
        </p:txBody>
      </p:sp>
      <p:sp>
        <p:nvSpPr>
          <p:cNvPr id="24" name="stat 0"/>
          <p:cNvSpPr/>
          <p:nvPr/>
        </p:nvSpPr>
        <p:spPr>
          <a:xfrm>
            <a:off x="320040" y="3291840"/>
            <a:ext cx="1965960" cy="1371600"/>
          </a:xfrm>
          <a:prstGeom prst="rect">
            <a:avLst/>
          </a:prstGeom>
          <a:solidFill>
            <a:srgbClr val="EEF3F9"/>
          </a:solidFill>
          <a:ln w="12700">
            <a:solidFill>
              <a:srgbClr val="C9D3E0"/>
            </a:solidFill>
            <a:prstDash val="solid"/>
          </a:ln>
        </p:spPr>
      </p:sp>
      <p:sp>
        <p:nvSpPr>
          <p:cNvPr id="25" name="Text 19"/>
          <p:cNvSpPr txBox="1"/>
          <p:nvPr/>
        </p:nvSpPr>
        <p:spPr>
          <a:xfrm>
            <a:off x="411480" y="3337560"/>
            <a:ext cx="1783080" cy="50292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60%+</a:t>
            </a:r>
            <a:endParaRPr lang="en-US" sz="3000" dirty="0"/>
          </a:p>
        </p:txBody>
      </p:sp>
      <p:sp>
        <p:nvSpPr>
          <p:cNvPr id="26" name="Text 20"/>
          <p:cNvSpPr txBox="1"/>
          <p:nvPr/>
        </p:nvSpPr>
        <p:spPr>
          <a:xfrm>
            <a:off x="411480" y="3858768"/>
            <a:ext cx="1783080" cy="777240"/>
          </a:xfrm>
          <a:prstGeom prst="rect">
            <a:avLst/>
          </a:prstGeom>
          <a:noFill/>
          <a:ln/>
        </p:spPr>
        <p:txBody>
          <a:bodyPr wrap="square" lIns="0" tIns="0" rIns="0" bIns="0" rtlCol="0" anchor="t"/>
          <a:lstStyle/>
          <a:p>
            <a:pPr indent="0" marL="0">
              <a:buNone/>
            </a:pPr>
            <a:r>
              <a:rPr lang="en-US" sz="1050" dirty="0">
                <a:solidFill>
                  <a:schemeClr val="tx1"/>
                </a:solidFill>
              </a:rPr>
              <a:t>cloud cover over most of India in the monsoon, so optical often cannot see the flood</a:t>
            </a:r>
            <a:endParaRPr lang="en-US" sz="1050" dirty="0"/>
          </a:p>
        </p:txBody>
      </p:sp>
      <p:sp>
        <p:nvSpPr>
          <p:cNvPr id="27" name="stat 1"/>
          <p:cNvSpPr/>
          <p:nvPr/>
        </p:nvSpPr>
        <p:spPr>
          <a:xfrm>
            <a:off x="2423160" y="3291840"/>
            <a:ext cx="1965960" cy="1371600"/>
          </a:xfrm>
          <a:prstGeom prst="rect">
            <a:avLst/>
          </a:prstGeom>
          <a:solidFill>
            <a:srgbClr val="EEF3F9"/>
          </a:solidFill>
          <a:ln w="12700">
            <a:solidFill>
              <a:srgbClr val="C9D3E0"/>
            </a:solidFill>
            <a:prstDash val="solid"/>
          </a:ln>
        </p:spPr>
      </p:sp>
      <p:sp>
        <p:nvSpPr>
          <p:cNvPr id="28" name="Text 22"/>
          <p:cNvSpPr txBox="1"/>
          <p:nvPr/>
        </p:nvSpPr>
        <p:spPr>
          <a:xfrm>
            <a:off x="2514600" y="3337560"/>
            <a:ext cx="1783080" cy="502920"/>
          </a:xfrm>
          <a:prstGeom prst="rect">
            <a:avLst/>
          </a:prstGeom>
          <a:noFill/>
          <a:ln/>
        </p:spPr>
        <p:txBody>
          <a:bodyPr wrap="square" lIns="0" tIns="0" rIns="0" bIns="0" rtlCol="0" anchor="ctr"/>
          <a:lstStyle/>
          <a:p>
            <a:pPr indent="0" marL="0">
              <a:buNone/>
            </a:pPr>
            <a:r>
              <a:rPr lang="en-US" sz="2200" b="1" dirty="0">
                <a:solidFill>
                  <a:schemeClr val="accent1"/>
                </a:solidFill>
                <a:latin typeface="Times New Roman" pitchFamily="34" charset="0"/>
                <a:ea typeface="Times New Roman" pitchFamily="34" charset="-122"/>
                <a:cs typeface="Times New Roman" pitchFamily="34" charset="-120"/>
              </a:rPr>
              <a:t>800 to 1,200</a:t>
            </a:r>
            <a:endParaRPr lang="en-US" sz="2200" dirty="0"/>
          </a:p>
        </p:txBody>
      </p:sp>
      <p:sp>
        <p:nvSpPr>
          <p:cNvPr id="29" name="Text 23"/>
          <p:cNvSpPr txBox="1"/>
          <p:nvPr/>
        </p:nvSpPr>
        <p:spPr>
          <a:xfrm>
            <a:off x="2514600" y="3858768"/>
            <a:ext cx="1783080" cy="777240"/>
          </a:xfrm>
          <a:prstGeom prst="rect">
            <a:avLst/>
          </a:prstGeom>
          <a:noFill/>
          <a:ln/>
        </p:spPr>
        <p:txBody>
          <a:bodyPr wrap="square" lIns="0" tIns="0" rIns="0" bIns="0" rtlCol="0" anchor="t"/>
          <a:lstStyle/>
          <a:p>
            <a:pPr indent="0" marL="0">
              <a:buNone/>
            </a:pPr>
            <a:r>
              <a:rPr lang="en-US" sz="1050" dirty="0">
                <a:solidFill>
                  <a:schemeClr val="tx1"/>
                </a:solidFill>
              </a:rPr>
              <a:t>geospatial degree-holders in India (2013). A 2025 talk still reports an "acute shortage"</a:t>
            </a:r>
            <a:endParaRPr lang="en-US" sz="1050" dirty="0"/>
          </a:p>
        </p:txBody>
      </p:sp>
      <p:graphicFrame>
        <p:nvGraphicFramePr>
          <p:cNvPr id="30" name="grounding chart" descr=""/>
          <p:cNvGraphicFramePr/>
          <p:nvPr/>
        </p:nvGraphicFramePr>
        <p:xfrm>
          <a:off x="4709160" y="1097280"/>
          <a:ext cx="4160520" cy="2148840"/>
        </p:xfrm>
        <a:graphic xmlns:a="http://schemas.openxmlformats.org/drawingml/2006/main">
          <a:graphicData uri="http://schemas.openxmlformats.org/drawingml/2006/chart">
            <c:chart xmlns:c="http://schemas.openxmlformats.org/drawingml/2006/chart" r:id="rId5"/>
          </a:graphicData>
        </a:graphic>
      </p:graphicFrame>
      <p:sp>
        <p:nvSpPr>
          <p:cNvPr id="31" name="Text 24"/>
          <p:cNvSpPr txBox="1"/>
          <p:nvPr/>
        </p:nvSpPr>
        <p:spPr>
          <a:xfrm>
            <a:off x="4709160" y="3246120"/>
            <a:ext cx="4160520" cy="274320"/>
          </a:xfrm>
          <a:prstGeom prst="rect">
            <a:avLst/>
          </a:prstGeom>
          <a:noFill/>
          <a:ln/>
        </p:spPr>
        <p:txBody>
          <a:bodyPr wrap="square" lIns="0" tIns="0" rIns="0" bIns="0" rtlCol="0" anchor="ctr"/>
          <a:lstStyle/>
          <a:p>
            <a:pPr indent="0" marL="0">
              <a:buNone/>
            </a:pPr>
            <a:r>
              <a:rPr lang="en-US" sz="900" dirty="0">
                <a:solidFill>
                  <a:srgbClr val="5B6472"/>
                </a:solidFill>
              </a:rPr>
              <a:t>Sources: VLEO-Bench (GPT-4V, specialist), GEOBench-VLM (GPT-4o, EarthDial), GeoChat paper. Benchmarks differ.</a:t>
            </a:r>
            <a:endParaRPr lang="en-US" sz="900" dirty="0"/>
          </a:p>
        </p:txBody>
      </p:sp>
      <p:sp>
        <p:nvSpPr>
          <p:cNvPr id="32" name="hallucination box"/>
          <p:cNvSpPr/>
          <p:nvPr/>
        </p:nvSpPr>
        <p:spPr>
          <a:xfrm>
            <a:off x="4709160" y="3584448"/>
            <a:ext cx="4160520" cy="1078992"/>
          </a:xfrm>
          <a:prstGeom prst="rect">
            <a:avLst/>
          </a:prstGeom>
          <a:solidFill>
            <a:srgbClr val="F4E6D6"/>
          </a:solidFill>
          <a:ln w="12700">
            <a:solidFill>
              <a:srgbClr val="C9D3E0"/>
            </a:solidFill>
            <a:prstDash val="solid"/>
          </a:ln>
        </p:spPr>
      </p:sp>
      <p:sp>
        <p:nvSpPr>
          <p:cNvPr id="33" name="Text 26"/>
          <p:cNvSpPr txBox="1"/>
          <p:nvPr/>
        </p:nvSpPr>
        <p:spPr>
          <a:xfrm>
            <a:off x="4846320" y="3630168"/>
            <a:ext cx="3931920" cy="987552"/>
          </a:xfrm>
          <a:prstGeom prst="rect">
            <a:avLst/>
          </a:prstGeom>
          <a:noFill/>
          <a:ln/>
        </p:spPr>
        <p:txBody>
          <a:bodyPr wrap="square" lIns="0" tIns="0" rIns="0" bIns="0" rtlCol="0" anchor="t"/>
          <a:lstStyle/>
          <a:p>
            <a:pPr indent="0" marL="0">
              <a:buNone/>
            </a:pPr>
            <a:r>
              <a:rPr lang="en-US" sz="2400" b="1" dirty="0">
                <a:solidFill>
                  <a:srgbClr val="8A4A0F"/>
                </a:solidFill>
                <a:latin typeface="Times New Roman" pitchFamily="34" charset="0"/>
                <a:ea typeface="Times New Roman" pitchFamily="34" charset="-122"/>
                <a:cs typeface="Times New Roman" pitchFamily="34" charset="-120"/>
              </a:rPr>
              <a:t>32 to 64%</a:t>
            </a:r>
            <a:endParaRPr lang="en-US" sz="2400" dirty="0"/>
          </a:p>
          <a:p>
            <a:pPr indent="0" marL="0">
              <a:buNone/>
            </a:pPr>
            <a:r>
              <a:rPr lang="en-US" sz="1100" dirty="0">
                <a:solidFill>
                  <a:schemeClr val="tx1"/>
                </a:solidFill>
              </a:rPr>
              <a:t>of remote-sensing VLM answers contain hallucinations, judged by experts (RSHallu, 2026). None states when not to trust it.</a:t>
            </a:r>
            <a:endParaRPr lang="en-US" sz="24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More Radar Data Than People to Read It</a:t>
            </a:r>
            <a:endParaRPr lang="en-US" sz="2600" dirty="0"/>
          </a:p>
        </p:txBody>
      </p:sp>
      <p:sp>
        <p:nvSpPr>
          <p:cNvPr id="5" name="Text 3"/>
          <p:cNvSpPr txBox="1"/>
          <p:nvPr/>
        </p:nvSpPr>
        <p:spPr>
          <a:xfrm>
            <a:off x="274320" y="749808"/>
            <a:ext cx="4846320" cy="292608"/>
          </a:xfrm>
          <a:prstGeom prst="rect">
            <a:avLst/>
          </a:prstGeom>
          <a:noFill/>
          <a:ln/>
        </p:spPr>
        <p:txBody>
          <a:bodyPr wrap="square" lIns="0" tIns="0" rIns="0" bIns="0" rtlCol="0" anchor="ctr"/>
          <a:lstStyle/>
          <a:p>
            <a:pPr algn="ctr" indent="0" marL="0">
              <a:buNone/>
            </a:pPr>
            <a:r>
              <a:rPr lang="en-US" sz="1400" b="1" dirty="0">
                <a:solidFill>
                  <a:schemeClr val="tx1"/>
                </a:solidFill>
              </a:rPr>
              <a:t>SUPPLY OF RADAR IS RISING</a:t>
            </a:r>
            <a:endParaRPr lang="en-US" sz="1400" dirty="0"/>
          </a:p>
        </p:txBody>
      </p:sp>
      <p:sp>
        <p:nvSpPr>
          <p:cNvPr id="6" name="Text 4"/>
          <p:cNvSpPr txBox="1"/>
          <p:nvPr/>
        </p:nvSpPr>
        <p:spPr>
          <a:xfrm>
            <a:off x="5440680" y="749808"/>
            <a:ext cx="3429000" cy="292608"/>
          </a:xfrm>
          <a:prstGeom prst="rect">
            <a:avLst/>
          </a:prstGeom>
          <a:noFill/>
          <a:ln/>
        </p:spPr>
        <p:txBody>
          <a:bodyPr wrap="square" lIns="0" tIns="0" rIns="0" bIns="0" rtlCol="0" anchor="ctr"/>
          <a:lstStyle/>
          <a:p>
            <a:pPr algn="ctr" indent="0" marL="0">
              <a:buNone/>
            </a:pPr>
            <a:r>
              <a:rPr lang="en-US" sz="1400" b="1" dirty="0">
                <a:solidFill>
                  <a:schemeClr val="tx1"/>
                </a:solidFill>
              </a:rPr>
              <a:t>AND THE DEMAND IS STATED</a:t>
            </a:r>
            <a:endParaRPr lang="en-US" sz="1400" dirty="0"/>
          </a:p>
        </p:txBody>
      </p:sp>
      <p:sp>
        <p:nvSpPr>
          <p:cNvPr id="7" name="Shape 5"/>
          <p:cNvSpPr/>
          <p:nvPr/>
        </p:nvSpPr>
        <p:spPr>
          <a:xfrm>
            <a:off x="5303520" y="777240"/>
            <a:ext cx="0" cy="3931920"/>
          </a:xfrm>
          <a:prstGeom prst="line">
            <a:avLst/>
          </a:prstGeom>
          <a:noFill/>
          <a:ln w="12700">
            <a:solidFill>
              <a:srgbClr val="1E2430"/>
            </a:solidFill>
            <a:prstDash val="solid"/>
          </a:ln>
        </p:spPr>
      </p:sp>
      <p:sp>
        <p:nvSpPr>
          <p:cNvPr id="8" name="demand 0"/>
          <p:cNvSpPr/>
          <p:nvPr/>
        </p:nvSpPr>
        <p:spPr>
          <a:xfrm>
            <a:off x="274320" y="1097280"/>
            <a:ext cx="2331720" cy="1664208"/>
          </a:xfrm>
          <a:prstGeom prst="rect">
            <a:avLst/>
          </a:prstGeom>
          <a:solidFill>
            <a:srgbClr val="EEF3F9"/>
          </a:solidFill>
          <a:ln w="12700">
            <a:solidFill>
              <a:srgbClr val="C9D3E0"/>
            </a:solidFill>
            <a:prstDash val="solid"/>
          </a:ln>
        </p:spPr>
      </p:sp>
      <p:sp>
        <p:nvSpPr>
          <p:cNvPr id="9" name="Text 7"/>
          <p:cNvSpPr txBox="1"/>
          <p:nvPr/>
        </p:nvSpPr>
        <p:spPr>
          <a:xfrm>
            <a:off x="365760" y="1152144"/>
            <a:ext cx="2148840" cy="50292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16 states</a:t>
            </a:r>
            <a:endParaRPr lang="en-US" sz="2600" dirty="0"/>
          </a:p>
        </p:txBody>
      </p:sp>
      <p:sp>
        <p:nvSpPr>
          <p:cNvPr id="10" name="Text 8"/>
          <p:cNvSpPr txBox="1"/>
          <p:nvPr/>
        </p:nvSpPr>
        <p:spPr>
          <a:xfrm>
            <a:off x="365760" y="1700784"/>
            <a:ext cx="2148840" cy="1005840"/>
          </a:xfrm>
          <a:prstGeom prst="rect">
            <a:avLst/>
          </a:prstGeom>
          <a:noFill/>
          <a:ln/>
        </p:spPr>
        <p:txBody>
          <a:bodyPr wrap="square" lIns="0" tIns="0" rIns="0" bIns="0" rtlCol="0" anchor="t"/>
          <a:lstStyle/>
          <a:p>
            <a:pPr indent="0" marL="0">
              <a:buNone/>
            </a:pPr>
            <a:r>
              <a:rPr lang="en-US" sz="1050" dirty="0">
                <a:solidFill>
                  <a:schemeClr val="tx1"/>
                </a:solidFill>
              </a:rPr>
              <a:t>had floods mapped near-real time in 2024, with ~300 maps and products issued (ISRO at UN COPUOS, 2025)</a:t>
            </a:r>
            <a:endParaRPr lang="en-US" sz="1050" dirty="0"/>
          </a:p>
        </p:txBody>
      </p:sp>
      <p:sp>
        <p:nvSpPr>
          <p:cNvPr id="11" name="demand 1"/>
          <p:cNvSpPr/>
          <p:nvPr/>
        </p:nvSpPr>
        <p:spPr>
          <a:xfrm>
            <a:off x="2743200" y="1097280"/>
            <a:ext cx="2331720" cy="1664208"/>
          </a:xfrm>
          <a:prstGeom prst="rect">
            <a:avLst/>
          </a:prstGeom>
          <a:solidFill>
            <a:srgbClr val="EEF3F9"/>
          </a:solidFill>
          <a:ln w="12700">
            <a:solidFill>
              <a:srgbClr val="C9D3E0"/>
            </a:solidFill>
            <a:prstDash val="solid"/>
          </a:ln>
        </p:spPr>
      </p:sp>
      <p:sp>
        <p:nvSpPr>
          <p:cNvPr id="12" name="Text 10"/>
          <p:cNvSpPr txBox="1"/>
          <p:nvPr/>
        </p:nvSpPr>
        <p:spPr>
          <a:xfrm>
            <a:off x="2834640" y="1152144"/>
            <a:ext cx="2148840" cy="50292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970,000</a:t>
            </a:r>
            <a:endParaRPr lang="en-US" sz="2600" dirty="0"/>
          </a:p>
        </p:txBody>
      </p:sp>
      <p:sp>
        <p:nvSpPr>
          <p:cNvPr id="13" name="Text 11"/>
          <p:cNvSpPr txBox="1"/>
          <p:nvPr/>
        </p:nvSpPr>
        <p:spPr>
          <a:xfrm>
            <a:off x="2834640" y="1700784"/>
            <a:ext cx="2148840" cy="1005840"/>
          </a:xfrm>
          <a:prstGeom prst="rect">
            <a:avLst/>
          </a:prstGeom>
          <a:noFill/>
          <a:ln/>
        </p:spPr>
        <p:txBody>
          <a:bodyPr wrap="square" lIns="0" tIns="0" rIns="0" bIns="0" rtlCol="0" anchor="t"/>
          <a:lstStyle/>
          <a:p>
            <a:pPr indent="0" marL="0">
              <a:buNone/>
            </a:pPr>
            <a:r>
              <a:rPr lang="en-US" sz="1050" dirty="0">
                <a:solidFill>
                  <a:schemeClr val="tx1"/>
                </a:solidFill>
              </a:rPr>
              <a:t>geospatial jobs projected in India by 2025, set against an "acute shortage" of skilled people (GSI 2025)</a:t>
            </a:r>
            <a:endParaRPr lang="en-US" sz="1050" dirty="0"/>
          </a:p>
        </p:txBody>
      </p:sp>
      <p:sp>
        <p:nvSpPr>
          <p:cNvPr id="14" name="demand 2"/>
          <p:cNvSpPr/>
          <p:nvPr/>
        </p:nvSpPr>
        <p:spPr>
          <a:xfrm>
            <a:off x="274320" y="2880360"/>
            <a:ext cx="2331720" cy="1664208"/>
          </a:xfrm>
          <a:prstGeom prst="rect">
            <a:avLst/>
          </a:prstGeom>
          <a:solidFill>
            <a:srgbClr val="EEF3F9"/>
          </a:solidFill>
          <a:ln w="12700">
            <a:solidFill>
              <a:srgbClr val="C9D3E0"/>
            </a:solidFill>
            <a:prstDash val="solid"/>
          </a:ln>
        </p:spPr>
      </p:sp>
      <p:sp>
        <p:nvSpPr>
          <p:cNvPr id="15" name="Text 13"/>
          <p:cNvSpPr txBox="1"/>
          <p:nvPr/>
        </p:nvSpPr>
        <p:spPr>
          <a:xfrm>
            <a:off x="365760" y="2935224"/>
            <a:ext cx="2148840" cy="50292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6 days</a:t>
            </a:r>
            <a:endParaRPr lang="en-US" sz="2600" dirty="0"/>
          </a:p>
        </p:txBody>
      </p:sp>
      <p:sp>
        <p:nvSpPr>
          <p:cNvPr id="16" name="Text 14"/>
          <p:cNvSpPr txBox="1"/>
          <p:nvPr/>
        </p:nvSpPr>
        <p:spPr>
          <a:xfrm>
            <a:off x="365760" y="3483864"/>
            <a:ext cx="2148840" cy="1005840"/>
          </a:xfrm>
          <a:prstGeom prst="rect">
            <a:avLst/>
          </a:prstGeom>
          <a:noFill/>
          <a:ln/>
        </p:spPr>
        <p:txBody>
          <a:bodyPr wrap="square" lIns="0" tIns="0" rIns="0" bIns="0" rtlCol="0" anchor="t"/>
          <a:lstStyle/>
          <a:p>
            <a:pPr indent="0" marL="0">
              <a:buNone/>
            </a:pPr>
            <a:r>
              <a:rPr lang="en-US" sz="1050" dirty="0">
                <a:solidFill>
                  <a:schemeClr val="tx1"/>
                </a:solidFill>
              </a:rPr>
              <a:t>Sentinel-1 revisit since June 2026 with the C and D satellites; the data is free and open</a:t>
            </a:r>
            <a:endParaRPr lang="en-US" sz="1050" dirty="0"/>
          </a:p>
        </p:txBody>
      </p:sp>
      <p:sp>
        <p:nvSpPr>
          <p:cNvPr id="17" name="demand 3"/>
          <p:cNvSpPr/>
          <p:nvPr/>
        </p:nvSpPr>
        <p:spPr>
          <a:xfrm>
            <a:off x="2743200" y="2880360"/>
            <a:ext cx="2331720" cy="1664208"/>
          </a:xfrm>
          <a:prstGeom prst="rect">
            <a:avLst/>
          </a:prstGeom>
          <a:solidFill>
            <a:srgbClr val="EEF3F9"/>
          </a:solidFill>
          <a:ln w="12700">
            <a:solidFill>
              <a:srgbClr val="C9D3E0"/>
            </a:solidFill>
            <a:prstDash val="solid"/>
          </a:ln>
        </p:spPr>
      </p:sp>
      <p:sp>
        <p:nvSpPr>
          <p:cNvPr id="18" name="Text 16"/>
          <p:cNvSpPr txBox="1"/>
          <p:nvPr/>
        </p:nvSpPr>
        <p:spPr>
          <a:xfrm>
            <a:off x="2834640" y="2935224"/>
            <a:ext cx="2148840" cy="50292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30 Jul 2025</a:t>
            </a:r>
            <a:endParaRPr lang="en-US" sz="2600" dirty="0"/>
          </a:p>
        </p:txBody>
      </p:sp>
      <p:sp>
        <p:nvSpPr>
          <p:cNvPr id="19" name="Text 17"/>
          <p:cNvSpPr txBox="1"/>
          <p:nvPr/>
        </p:nvSpPr>
        <p:spPr>
          <a:xfrm>
            <a:off x="2834640" y="3483864"/>
            <a:ext cx="2148840" cy="1005840"/>
          </a:xfrm>
          <a:prstGeom prst="rect">
            <a:avLst/>
          </a:prstGeom>
          <a:noFill/>
          <a:ln/>
        </p:spPr>
        <p:txBody>
          <a:bodyPr wrap="square" lIns="0" tIns="0" rIns="0" bIns="0" rtlCol="0" anchor="t"/>
          <a:lstStyle/>
          <a:p>
            <a:pPr indent="0" marL="0">
              <a:buNone/>
            </a:pPr>
            <a:r>
              <a:rPr lang="en-US" sz="1050" dirty="0">
                <a:solidFill>
                  <a:schemeClr val="tx1"/>
                </a:solidFill>
              </a:rPr>
              <a:t>NISAR launched: ISRO's S-band and NASA's L-band radar, built to watch land change</a:t>
            </a:r>
            <a:endParaRPr lang="en-US" sz="1050" dirty="0"/>
          </a:p>
        </p:txBody>
      </p:sp>
      <p:sp>
        <p:nvSpPr>
          <p:cNvPr id="20" name="Text 18"/>
          <p:cNvSpPr txBox="1"/>
          <p:nvPr/>
        </p:nvSpPr>
        <p:spPr>
          <a:xfrm>
            <a:off x="5440680" y="1097280"/>
            <a:ext cx="3429000" cy="237744"/>
          </a:xfrm>
          <a:prstGeom prst="rect">
            <a:avLst/>
          </a:prstGeom>
          <a:noFill/>
          <a:ln/>
        </p:spPr>
        <p:txBody>
          <a:bodyPr wrap="square" lIns="0" tIns="0" rIns="0" bIns="0" rtlCol="0" anchor="ctr"/>
          <a:lstStyle/>
          <a:p>
            <a:pPr indent="0" marL="0">
              <a:buNone/>
            </a:pPr>
            <a:r>
              <a:rPr lang="en-US" sz="1250" b="1" dirty="0">
                <a:solidFill>
                  <a:schemeClr val="accent1"/>
                </a:solidFill>
              </a:rPr>
              <a:t>Radar is the flood standard</a:t>
            </a:r>
            <a:endParaRPr lang="en-US" sz="1250" dirty="0"/>
          </a:p>
        </p:txBody>
      </p:sp>
      <p:sp>
        <p:nvSpPr>
          <p:cNvPr id="21" name="Text 19"/>
          <p:cNvSpPr txBox="1"/>
          <p:nvPr/>
        </p:nvSpPr>
        <p:spPr>
          <a:xfrm>
            <a:off x="5440680" y="1344168"/>
            <a:ext cx="3429000" cy="621792"/>
          </a:xfrm>
          <a:prstGeom prst="rect">
            <a:avLst/>
          </a:prstGeom>
          <a:noFill/>
          <a:ln/>
        </p:spPr>
        <p:txBody>
          <a:bodyPr wrap="square" lIns="0" tIns="0" rIns="0" bIns="0" rtlCol="0" anchor="t"/>
          <a:lstStyle/>
          <a:p>
            <a:pPr indent="0" marL="0">
              <a:buNone/>
            </a:pPr>
            <a:r>
              <a:rPr lang="en-US" sz="1050" dirty="0">
                <a:solidFill>
                  <a:schemeClr val="tx1"/>
                </a:solidFill>
              </a:rPr>
              <a:t>NRSC prefers SAR for flood mapping: it sees through cloud, day and night.</a:t>
            </a:r>
            <a:endParaRPr lang="en-US" sz="1050" dirty="0"/>
          </a:p>
        </p:txBody>
      </p:sp>
      <p:sp>
        <p:nvSpPr>
          <p:cNvPr id="22" name="Text 20"/>
          <p:cNvSpPr txBox="1"/>
          <p:nvPr/>
        </p:nvSpPr>
        <p:spPr>
          <a:xfrm>
            <a:off x="5440680" y="2002536"/>
            <a:ext cx="3429000" cy="237744"/>
          </a:xfrm>
          <a:prstGeom prst="rect">
            <a:avLst/>
          </a:prstGeom>
          <a:noFill/>
          <a:ln/>
        </p:spPr>
        <p:txBody>
          <a:bodyPr wrap="square" lIns="0" tIns="0" rIns="0" bIns="0" rtlCol="0" anchor="ctr"/>
          <a:lstStyle/>
          <a:p>
            <a:pPr indent="0" marL="0">
              <a:buNone/>
            </a:pPr>
            <a:r>
              <a:rPr lang="en-US" sz="1250" b="1" dirty="0">
                <a:solidFill>
                  <a:schemeClr val="accent1"/>
                </a:solidFill>
              </a:rPr>
              <a:t>NRSC itself asks for this</a:t>
            </a:r>
            <a:endParaRPr lang="en-US" sz="1250" dirty="0"/>
          </a:p>
        </p:txBody>
      </p:sp>
      <p:sp>
        <p:nvSpPr>
          <p:cNvPr id="23" name="Text 21"/>
          <p:cNvSpPr txBox="1"/>
          <p:nvPr/>
        </p:nvSpPr>
        <p:spPr>
          <a:xfrm>
            <a:off x="5440680" y="2249424"/>
            <a:ext cx="3429000" cy="621792"/>
          </a:xfrm>
          <a:prstGeom prst="rect">
            <a:avLst/>
          </a:prstGeom>
          <a:noFill/>
          <a:ln/>
        </p:spPr>
        <p:txBody>
          <a:bodyPr wrap="square" lIns="0" tIns="0" rIns="0" bIns="0" rtlCol="0" anchor="t"/>
          <a:lstStyle/>
          <a:p>
            <a:pPr indent="0" marL="0">
              <a:buNone/>
            </a:pPr>
            <a:r>
              <a:rPr lang="en-US" sz="1050" dirty="0">
                <a:solidFill>
                  <a:schemeClr val="tx1"/>
                </a:solidFill>
              </a:rPr>
              <a:t>Its researchers propose a multilingual Bhuvan chatbot for policymakers who lack GIS skills (ISPRS Annals, 2025). It is a proposal, not a service.</a:t>
            </a:r>
            <a:endParaRPr lang="en-US" sz="1050" dirty="0"/>
          </a:p>
        </p:txBody>
      </p:sp>
      <p:sp>
        <p:nvSpPr>
          <p:cNvPr id="24" name="Text 22"/>
          <p:cNvSpPr txBox="1"/>
          <p:nvPr/>
        </p:nvSpPr>
        <p:spPr>
          <a:xfrm>
            <a:off x="5440680" y="2907792"/>
            <a:ext cx="3429000" cy="237744"/>
          </a:xfrm>
          <a:prstGeom prst="rect">
            <a:avLst/>
          </a:prstGeom>
          <a:noFill/>
          <a:ln/>
        </p:spPr>
        <p:txBody>
          <a:bodyPr wrap="square" lIns="0" tIns="0" rIns="0" bIns="0" rtlCol="0" anchor="ctr"/>
          <a:lstStyle/>
          <a:p>
            <a:pPr indent="0" marL="0">
              <a:buNone/>
            </a:pPr>
            <a:r>
              <a:rPr lang="en-US" sz="1250" b="1" dirty="0">
                <a:solidFill>
                  <a:schemeClr val="accent1"/>
                </a:solidFill>
              </a:rPr>
              <a:t>Official maps carry caveats</a:t>
            </a:r>
            <a:endParaRPr lang="en-US" sz="1250" dirty="0"/>
          </a:p>
        </p:txBody>
      </p:sp>
      <p:sp>
        <p:nvSpPr>
          <p:cNvPr id="25" name="Text 23"/>
          <p:cNvSpPr txBox="1"/>
          <p:nvPr/>
        </p:nvSpPr>
        <p:spPr>
          <a:xfrm>
            <a:off x="5440680" y="3154680"/>
            <a:ext cx="3429000" cy="621792"/>
          </a:xfrm>
          <a:prstGeom prst="rect">
            <a:avLst/>
          </a:prstGeom>
          <a:noFill/>
          <a:ln/>
        </p:spPr>
        <p:txBody>
          <a:bodyPr wrap="square" lIns="0" tIns="0" rIns="0" bIns="0" rtlCol="0" anchor="t"/>
          <a:lstStyle/>
          <a:p>
            <a:pPr indent="0" marL="0">
              <a:buNone/>
            </a:pPr>
            <a:r>
              <a:rPr lang="en-US" sz="1050" dirty="0">
                <a:solidFill>
                  <a:schemeClr val="tx1"/>
                </a:solidFill>
              </a:rPr>
              <a:t>NRSC Assam maps are labelled preliminary, with no ground verification. Users already expect stated limits.</a:t>
            </a:r>
            <a:endParaRPr lang="en-US" sz="1050" dirty="0"/>
          </a:p>
        </p:txBody>
      </p:sp>
      <p:sp>
        <p:nvSpPr>
          <p:cNvPr id="26" name="Text 24"/>
          <p:cNvSpPr txBox="1"/>
          <p:nvPr/>
        </p:nvSpPr>
        <p:spPr>
          <a:xfrm>
            <a:off x="5440680" y="3813048"/>
            <a:ext cx="3429000" cy="237744"/>
          </a:xfrm>
          <a:prstGeom prst="rect">
            <a:avLst/>
          </a:prstGeom>
          <a:noFill/>
          <a:ln/>
        </p:spPr>
        <p:txBody>
          <a:bodyPr wrap="square" lIns="0" tIns="0" rIns="0" bIns="0" rtlCol="0" anchor="ctr"/>
          <a:lstStyle/>
          <a:p>
            <a:pPr indent="0" marL="0">
              <a:buNone/>
            </a:pPr>
            <a:r>
              <a:rPr lang="en-US" sz="1250" b="1" dirty="0">
                <a:solidFill>
                  <a:srgbClr val="8A4A0F"/>
                </a:solidFill>
              </a:rPr>
              <a:t>The missing step</a:t>
            </a:r>
            <a:endParaRPr lang="en-US" sz="1250" dirty="0"/>
          </a:p>
        </p:txBody>
      </p:sp>
      <p:sp>
        <p:nvSpPr>
          <p:cNvPr id="27" name="Text 25"/>
          <p:cNvSpPr txBox="1"/>
          <p:nvPr/>
        </p:nvSpPr>
        <p:spPr>
          <a:xfrm>
            <a:off x="5440680" y="4059936"/>
            <a:ext cx="3429000" cy="621792"/>
          </a:xfrm>
          <a:prstGeom prst="rect">
            <a:avLst/>
          </a:prstGeom>
          <a:noFill/>
          <a:ln/>
        </p:spPr>
        <p:txBody>
          <a:bodyPr wrap="square" lIns="0" tIns="0" rIns="0" bIns="0" rtlCol="0" anchor="t"/>
          <a:lstStyle/>
          <a:p>
            <a:pPr indent="0" marL="0">
              <a:buNone/>
            </a:pPr>
            <a:r>
              <a:rPr lang="en-US" sz="1050" dirty="0">
                <a:solidFill>
                  <a:schemeClr val="tx1"/>
                </a:solidFill>
              </a:rPr>
              <a:t>Few people can turn a radar scene into an answer. Tellio takes a plain question and returns one, with its evidence.</a:t>
            </a:r>
            <a:endParaRPr lang="en-US" sz="1050" dirty="0"/>
          </a:p>
        </p:txBody>
      </p:sp>
      <p:sp>
        <p:nvSpPr>
          <p:cNvPr id="28" name="Text 26"/>
          <p:cNvSpPr txBox="1"/>
          <p:nvPr/>
        </p:nvSpPr>
        <p:spPr>
          <a:xfrm>
            <a:off x="274320" y="4572000"/>
            <a:ext cx="4846320" cy="237744"/>
          </a:xfrm>
          <a:prstGeom prst="rect">
            <a:avLst/>
          </a:prstGeom>
          <a:noFill/>
          <a:ln/>
        </p:spPr>
        <p:txBody>
          <a:bodyPr wrap="square" lIns="0" tIns="0" rIns="0" bIns="0" rtlCol="0" anchor="t"/>
          <a:lstStyle/>
          <a:p>
            <a:pPr indent="0" marL="0">
              <a:buNone/>
            </a:pPr>
            <a:r>
              <a:rPr lang="en-US" sz="800" dirty="0">
                <a:solidFill>
                  <a:srgbClr val="5B6472"/>
                </a:solidFill>
              </a:rPr>
              <a:t>Sources: ISRO statement to UN COPUOS STSC 2025; Mathur, GSI 2025; CDSE news 28 May 2026; NISAR launch coverage (Down To Earth, Jul 2025); Saxena and Rao 2025; NDEM Assam maps 2024.</a:t>
            </a:r>
            <a:endParaRPr lang="en-US" sz="8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How an Answer Is Made</a:t>
            </a:r>
            <a:endParaRPr lang="en-US" sz="2600" dirty="0"/>
          </a:p>
        </p:txBody>
      </p:sp>
      <p:sp>
        <p:nvSpPr>
          <p:cNvPr id="5" name="Shape 3"/>
          <p:cNvSpPr/>
          <p:nvPr/>
        </p:nvSpPr>
        <p:spPr>
          <a:xfrm>
            <a:off x="274320" y="777240"/>
            <a:ext cx="8595360" cy="457200"/>
          </a:xfrm>
          <a:prstGeom prst="rect">
            <a:avLst/>
          </a:prstGeom>
          <a:solidFill>
            <a:schemeClr val="bg1"/>
          </a:solidFill>
          <a:ln w="12700">
            <a:solidFill>
              <a:srgbClr val="1E2430"/>
            </a:solidFill>
            <a:prstDash val="solid"/>
          </a:ln>
        </p:spPr>
      </p:sp>
      <p:sp>
        <p:nvSpPr>
          <p:cNvPr id="6" name="Text 4"/>
          <p:cNvSpPr txBox="1"/>
          <p:nvPr/>
        </p:nvSpPr>
        <p:spPr>
          <a:xfrm>
            <a:off x="365760" y="777240"/>
            <a:ext cx="8412480" cy="457200"/>
          </a:xfrm>
          <a:prstGeom prst="rect">
            <a:avLst/>
          </a:prstGeom>
          <a:noFill/>
          <a:ln/>
        </p:spPr>
        <p:txBody>
          <a:bodyPr wrap="square" lIns="0" tIns="0" rIns="0" bIns="0" rtlCol="0" anchor="ctr"/>
          <a:lstStyle/>
          <a:p>
            <a:pPr algn="ctr" indent="0" marL="0">
              <a:buNone/>
            </a:pPr>
            <a:r>
              <a:rPr lang="en-US" sz="1300" dirty="0">
                <a:solidFill>
                  <a:schemeClr val="tx1"/>
                </a:solidFill>
              </a:rPr>
              <a:t>Every number comes from a measured, versioned instrument on the real radar pass. The language model never makes a number up.</a:t>
            </a:r>
            <a:endParaRPr lang="en-US" sz="1300" dirty="0"/>
          </a:p>
        </p:txBody>
      </p:sp>
      <p:sp>
        <p:nvSpPr>
          <p:cNvPr id="7" name="Shape 5"/>
          <p:cNvSpPr/>
          <p:nvPr/>
        </p:nvSpPr>
        <p:spPr>
          <a:xfrm>
            <a:off x="320040" y="1472184"/>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320040" y="147218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868680" y="1417320"/>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Ask</a:t>
            </a:r>
            <a:endParaRPr lang="en-US" sz="1300" dirty="0"/>
          </a:p>
        </p:txBody>
      </p:sp>
      <p:sp>
        <p:nvSpPr>
          <p:cNvPr id="10" name="Text 8"/>
          <p:cNvSpPr txBox="1"/>
          <p:nvPr/>
        </p:nvSpPr>
        <p:spPr>
          <a:xfrm>
            <a:off x="868680" y="1673352"/>
            <a:ext cx="2926080" cy="384048"/>
          </a:xfrm>
          <a:prstGeom prst="rect">
            <a:avLst/>
          </a:prstGeom>
          <a:noFill/>
          <a:ln/>
        </p:spPr>
        <p:txBody>
          <a:bodyPr wrap="square" lIns="0" tIns="0" rIns="0" bIns="0" rtlCol="0" anchor="t"/>
          <a:lstStyle/>
          <a:p>
            <a:pPr indent="0" marL="0">
              <a:buNone/>
            </a:pPr>
            <a:r>
              <a:rPr lang="en-US" sz="1100" dirty="0">
                <a:solidFill>
                  <a:srgbClr val="5B6472"/>
                </a:solidFill>
              </a:rPr>
              <a:t>"How much of Barpeta was under water on 11 July?"</a:t>
            </a:r>
            <a:endParaRPr lang="en-US" sz="1100" dirty="0"/>
          </a:p>
        </p:txBody>
      </p:sp>
      <p:sp>
        <p:nvSpPr>
          <p:cNvPr id="11" name="Shape 9"/>
          <p:cNvSpPr/>
          <p:nvPr/>
        </p:nvSpPr>
        <p:spPr>
          <a:xfrm>
            <a:off x="530352" y="1920240"/>
            <a:ext cx="0" cy="283464"/>
          </a:xfrm>
          <a:prstGeom prst="line">
            <a:avLst/>
          </a:prstGeom>
          <a:noFill/>
          <a:ln w="19050">
            <a:solidFill>
              <a:srgbClr val="C9D3E0"/>
            </a:solidFill>
            <a:prstDash val="solid"/>
          </a:ln>
        </p:spPr>
      </p:sp>
      <p:sp>
        <p:nvSpPr>
          <p:cNvPr id="12" name="Shape 10"/>
          <p:cNvSpPr/>
          <p:nvPr/>
        </p:nvSpPr>
        <p:spPr>
          <a:xfrm>
            <a:off x="320040" y="2231136"/>
            <a:ext cx="420624" cy="420624"/>
          </a:xfrm>
          <a:prstGeom prst="ellipse">
            <a:avLst/>
          </a:prstGeom>
          <a:solidFill>
            <a:schemeClr val="accent1"/>
          </a:solidFill>
          <a:ln w="12700">
            <a:solidFill>
              <a:schemeClr val="accent1"/>
            </a:solidFill>
            <a:prstDash val="solid"/>
          </a:ln>
        </p:spPr>
      </p:sp>
      <p:sp>
        <p:nvSpPr>
          <p:cNvPr id="13" name="Text 11"/>
          <p:cNvSpPr txBox="1"/>
          <p:nvPr/>
        </p:nvSpPr>
        <p:spPr>
          <a:xfrm>
            <a:off x="32004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868680" y="2176272"/>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Find the pass</a:t>
            </a:r>
            <a:endParaRPr lang="en-US" sz="1300" dirty="0"/>
          </a:p>
        </p:txBody>
      </p:sp>
      <p:sp>
        <p:nvSpPr>
          <p:cNvPr id="15" name="Text 13"/>
          <p:cNvSpPr txBox="1"/>
          <p:nvPr/>
        </p:nvSpPr>
        <p:spPr>
          <a:xfrm>
            <a:off x="868680" y="2432304"/>
            <a:ext cx="2926080" cy="384048"/>
          </a:xfrm>
          <a:prstGeom prst="rect">
            <a:avLst/>
          </a:prstGeom>
          <a:noFill/>
          <a:ln/>
        </p:spPr>
        <p:txBody>
          <a:bodyPr wrap="square" lIns="0" tIns="0" rIns="0" bIns="0" rtlCol="0" anchor="t"/>
          <a:lstStyle/>
          <a:p>
            <a:pPr indent="0" marL="0">
              <a:buNone/>
            </a:pPr>
            <a:r>
              <a:rPr lang="en-US" sz="1100" dirty="0">
                <a:solidFill>
                  <a:srgbClr val="5B6472"/>
                </a:solidFill>
              </a:rPr>
              <a:t>Public STAC catalogues; Sentinel-1 radar first in monsoon</a:t>
            </a:r>
            <a:endParaRPr lang="en-US" sz="1100" dirty="0"/>
          </a:p>
        </p:txBody>
      </p:sp>
      <p:sp>
        <p:nvSpPr>
          <p:cNvPr id="16" name="Shape 14"/>
          <p:cNvSpPr/>
          <p:nvPr/>
        </p:nvSpPr>
        <p:spPr>
          <a:xfrm>
            <a:off x="530352" y="2679192"/>
            <a:ext cx="0" cy="283464"/>
          </a:xfrm>
          <a:prstGeom prst="line">
            <a:avLst/>
          </a:prstGeom>
          <a:noFill/>
          <a:ln w="19050">
            <a:solidFill>
              <a:srgbClr val="C9D3E0"/>
            </a:solidFill>
            <a:prstDash val="solid"/>
          </a:ln>
        </p:spPr>
      </p:sp>
      <p:sp>
        <p:nvSpPr>
          <p:cNvPr id="17" name="Shape 15"/>
          <p:cNvSpPr/>
          <p:nvPr/>
        </p:nvSpPr>
        <p:spPr>
          <a:xfrm>
            <a:off x="320040" y="2990088"/>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320040" y="29900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868680" y="2935224"/>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Measure</a:t>
            </a:r>
            <a:endParaRPr lang="en-US" sz="1300" dirty="0"/>
          </a:p>
        </p:txBody>
      </p:sp>
      <p:sp>
        <p:nvSpPr>
          <p:cNvPr id="20" name="Text 18"/>
          <p:cNvSpPr txBox="1"/>
          <p:nvPr/>
        </p:nvSpPr>
        <p:spPr>
          <a:xfrm>
            <a:off x="868680" y="3191256"/>
            <a:ext cx="2926080" cy="384048"/>
          </a:xfrm>
          <a:prstGeom prst="rect">
            <a:avLst/>
          </a:prstGeom>
          <a:noFill/>
          <a:ln/>
        </p:spPr>
        <p:txBody>
          <a:bodyPr wrap="square" lIns="0" tIns="0" rIns="0" bIns="0" rtlCol="0" anchor="t"/>
          <a:lstStyle/>
          <a:p>
            <a:pPr indent="0" marL="0">
              <a:buNone/>
            </a:pPr>
            <a:r>
              <a:rPr lang="en-US" sz="1100" dirty="0">
                <a:solidFill>
                  <a:srgbClr val="5B6472"/>
                </a:solidFill>
              </a:rPr>
              <a:t>SAR water instrument per 5 km tile, on CPU</a:t>
            </a:r>
            <a:endParaRPr lang="en-US" sz="1100" dirty="0"/>
          </a:p>
        </p:txBody>
      </p:sp>
      <p:sp>
        <p:nvSpPr>
          <p:cNvPr id="21" name="Shape 19"/>
          <p:cNvSpPr/>
          <p:nvPr/>
        </p:nvSpPr>
        <p:spPr>
          <a:xfrm>
            <a:off x="530352" y="3438144"/>
            <a:ext cx="0" cy="283464"/>
          </a:xfrm>
          <a:prstGeom prst="line">
            <a:avLst/>
          </a:prstGeom>
          <a:noFill/>
          <a:ln w="19050">
            <a:solidFill>
              <a:srgbClr val="C9D3E0"/>
            </a:solidFill>
            <a:prstDash val="solid"/>
          </a:ln>
        </p:spPr>
      </p:sp>
      <p:sp>
        <p:nvSpPr>
          <p:cNvPr id="22" name="Shape 20"/>
          <p:cNvSpPr/>
          <p:nvPr/>
        </p:nvSpPr>
        <p:spPr>
          <a:xfrm>
            <a:off x="320040" y="3749040"/>
            <a:ext cx="420624" cy="420624"/>
          </a:xfrm>
          <a:prstGeom prst="ellipse">
            <a:avLst/>
          </a:prstGeom>
          <a:solidFill>
            <a:schemeClr val="accent1"/>
          </a:solidFill>
          <a:ln w="12700">
            <a:solidFill>
              <a:schemeClr val="accent1"/>
            </a:solidFill>
            <a:prstDash val="solid"/>
          </a:ln>
        </p:spPr>
      </p:sp>
      <p:sp>
        <p:nvSpPr>
          <p:cNvPr id="23" name="Text 21"/>
          <p:cNvSpPr txBox="1"/>
          <p:nvPr/>
        </p:nvSpPr>
        <p:spPr>
          <a:xfrm>
            <a:off x="320040" y="37490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868680" y="3694176"/>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Calibrate</a:t>
            </a:r>
            <a:endParaRPr lang="en-US" sz="1300" dirty="0"/>
          </a:p>
        </p:txBody>
      </p:sp>
      <p:sp>
        <p:nvSpPr>
          <p:cNvPr id="25" name="Text 23"/>
          <p:cNvSpPr txBox="1"/>
          <p:nvPr/>
        </p:nvSpPr>
        <p:spPr>
          <a:xfrm>
            <a:off x="868680" y="3950208"/>
            <a:ext cx="2926080" cy="384048"/>
          </a:xfrm>
          <a:prstGeom prst="rect">
            <a:avLst/>
          </a:prstGeom>
          <a:noFill/>
          <a:ln/>
        </p:spPr>
        <p:txBody>
          <a:bodyPr wrap="square" lIns="0" tIns="0" rIns="0" bIns="0" rtlCol="0" anchor="t"/>
          <a:lstStyle/>
          <a:p>
            <a:pPr indent="0" marL="0">
              <a:buNone/>
            </a:pPr>
            <a:r>
              <a:rPr lang="en-US" sz="1100" dirty="0">
                <a:solidFill>
                  <a:srgbClr val="5B6472"/>
                </a:solidFill>
              </a:rPr>
              <a:t>Score to probability, fitted on hand labels</a:t>
            </a:r>
            <a:endParaRPr lang="en-US" sz="1100" dirty="0"/>
          </a:p>
        </p:txBody>
      </p:sp>
      <p:sp>
        <p:nvSpPr>
          <p:cNvPr id="26" name="Text 24"/>
          <p:cNvSpPr txBox="1"/>
          <p:nvPr/>
        </p:nvSpPr>
        <p:spPr>
          <a:xfrm>
            <a:off x="320040" y="4370832"/>
            <a:ext cx="3566160" cy="411480"/>
          </a:xfrm>
          <a:prstGeom prst="rect">
            <a:avLst/>
          </a:prstGeom>
          <a:noFill/>
          <a:ln/>
        </p:spPr>
        <p:txBody>
          <a:bodyPr wrap="square" lIns="0" tIns="0" rIns="0" bIns="0" rtlCol="0" anchor="t"/>
          <a:lstStyle/>
          <a:p>
            <a:pPr indent="0" marL="0">
              <a:buNone/>
            </a:pPr>
            <a:r>
              <a:rPr lang="en-US" sz="950" dirty="0">
                <a:solidFill>
                  <a:srgbClr val="5B6472"/>
                </a:solidFill>
              </a:rPr>
              <a:t>Why a receipt: UNOOSA (Sep 2025) calls for provenance, metadata and audit trails on AI-derived satellite products.</a:t>
            </a:r>
            <a:endParaRPr lang="en-US" sz="950" dirty="0"/>
          </a:p>
        </p:txBody>
      </p:sp>
      <p:sp>
        <p:nvSpPr>
          <p:cNvPr id="27" name="Shape 25"/>
          <p:cNvSpPr/>
          <p:nvPr/>
        </p:nvSpPr>
        <p:spPr>
          <a:xfrm>
            <a:off x="4069080" y="1417320"/>
            <a:ext cx="0" cy="3291840"/>
          </a:xfrm>
          <a:prstGeom prst="line">
            <a:avLst/>
          </a:prstGeom>
          <a:noFill/>
          <a:ln w="12700">
            <a:solidFill>
              <a:srgbClr val="1E2430"/>
            </a:solidFill>
            <a:prstDash val="solid"/>
          </a:ln>
        </p:spPr>
      </p:sp>
      <p:sp>
        <p:nvSpPr>
          <p:cNvPr id="28" name="card yes"/>
          <p:cNvSpPr/>
          <p:nvPr/>
        </p:nvSpPr>
        <p:spPr>
          <a:xfrm>
            <a:off x="4297680" y="1417320"/>
            <a:ext cx="2194560" cy="3246120"/>
          </a:xfrm>
          <a:prstGeom prst="rect">
            <a:avLst/>
          </a:prstGeom>
          <a:solidFill>
            <a:schemeClr val="bg1"/>
          </a:solidFill>
          <a:ln w="12700">
            <a:solidFill>
              <a:srgbClr val="C9D3E0"/>
            </a:solidFill>
            <a:prstDash val="solid"/>
          </a:ln>
        </p:spPr>
      </p:sp>
      <p:sp>
        <p:nvSpPr>
          <p:cNvPr id="29" name="Text 27"/>
          <p:cNvSpPr txBox="1"/>
          <p:nvPr/>
        </p:nvSpPr>
        <p:spPr>
          <a:xfrm>
            <a:off x="4389120" y="1481328"/>
            <a:ext cx="2011680" cy="256032"/>
          </a:xfrm>
          <a:prstGeom prst="rect">
            <a:avLst/>
          </a:prstGeom>
          <a:noFill/>
          <a:ln/>
        </p:spPr>
        <p:txBody>
          <a:bodyPr wrap="square" lIns="0" tIns="0" rIns="0" bIns="0" rtlCol="0" anchor="ctr"/>
          <a:lstStyle/>
          <a:p>
            <a:pPr indent="0" marL="0">
              <a:buNone/>
            </a:pPr>
            <a:r>
              <a:rPr lang="en-US" sz="1000" b="1" dirty="0">
                <a:solidFill>
                  <a:schemeClr val="accent3"/>
                </a:solidFill>
              </a:rPr>
              <a:t>CONFIDENCE ≥ 0.60</a:t>
            </a:r>
            <a:endParaRPr lang="en-US" sz="1000" dirty="0"/>
          </a:p>
        </p:txBody>
      </p:sp>
      <p:sp>
        <p:nvSpPr>
          <p:cNvPr id="30" name="Text 28"/>
          <p:cNvSpPr txBox="1"/>
          <p:nvPr/>
        </p:nvSpPr>
        <p:spPr>
          <a:xfrm>
            <a:off x="4389120" y="1755648"/>
            <a:ext cx="2011680" cy="841248"/>
          </a:xfrm>
          <a:prstGeom prst="rect">
            <a:avLst/>
          </a:prstGeom>
          <a:noFill/>
          <a:ln/>
        </p:spPr>
        <p:txBody>
          <a:bodyPr wrap="square" lIns="0" tIns="0" rIns="0" bIns="0" rtlCol="0" anchor="t"/>
          <a:lstStyle/>
          <a:p>
            <a:pPr indent="0" marL="0">
              <a:buNone/>
            </a:pPr>
            <a:r>
              <a:rPr lang="en-US" sz="2800" b="1" dirty="0">
                <a:solidFill>
                  <a:schemeClr val="tx1"/>
                </a:solidFill>
                <a:latin typeface="Times New Roman" pitchFamily="34" charset="0"/>
                <a:ea typeface="Times New Roman" pitchFamily="34" charset="-122"/>
                <a:cs typeface="Times New Roman" pitchFamily="34" charset="-120"/>
              </a:rPr>
              <a:t>914 km²</a:t>
            </a:r>
            <a:endParaRPr lang="en-US" sz="2800" dirty="0"/>
          </a:p>
          <a:p>
            <a:pPr indent="0" marL="0">
              <a:buNone/>
            </a:pPr>
            <a:r>
              <a:rPr lang="en-US" sz="1100" dirty="0">
                <a:solidFill>
                  <a:schemeClr val="tx1"/>
                </a:solidFill>
              </a:rPr>
              <a:t>water in Barpeta, 11 Jul 2024</a:t>
            </a:r>
            <a:endParaRPr lang="en-US" sz="2800" dirty="0"/>
          </a:p>
        </p:txBody>
      </p:sp>
      <p:sp>
        <p:nvSpPr>
          <p:cNvPr id="31" name="Shape 29"/>
          <p:cNvSpPr/>
          <p:nvPr/>
        </p:nvSpPr>
        <p:spPr>
          <a:xfrm>
            <a:off x="4389120" y="2606040"/>
            <a:ext cx="2011680" cy="301752"/>
          </a:xfrm>
          <a:prstGeom prst="roundRect">
            <a:avLst>
              <a:gd name="adj" fmla="val 24242"/>
            </a:avLst>
          </a:prstGeom>
          <a:solidFill>
            <a:schemeClr val="bg2"/>
          </a:solidFill>
          <a:ln w="12700">
            <a:solidFill>
              <a:schemeClr val="bg2"/>
            </a:solidFill>
            <a:prstDash val="solid"/>
          </a:ln>
        </p:spPr>
      </p:sp>
      <p:sp>
        <p:nvSpPr>
          <p:cNvPr id="32" name="Text 30"/>
          <p:cNvSpPr txBox="1"/>
          <p:nvPr/>
        </p:nvSpPr>
        <p:spPr>
          <a:xfrm>
            <a:off x="4434840" y="2606040"/>
            <a:ext cx="1920240" cy="301752"/>
          </a:xfrm>
          <a:prstGeom prst="rect">
            <a:avLst/>
          </a:prstGeom>
          <a:noFill/>
          <a:ln/>
        </p:spPr>
        <p:txBody>
          <a:bodyPr wrap="square" lIns="0" tIns="0" rIns="0" bIns="0" rtlCol="0" anchor="ctr"/>
          <a:lstStyle/>
          <a:p>
            <a:pPr indent="0" marL="0">
              <a:buNone/>
            </a:pPr>
            <a:r>
              <a:rPr lang="en-US" sz="1000" dirty="0">
                <a:solidFill>
                  <a:schemeClr val="tx1"/>
                </a:solidFill>
              </a:rPr>
              <a:t>Sentinel-1 scene + date</a:t>
            </a:r>
            <a:endParaRPr lang="en-US" sz="1000" dirty="0"/>
          </a:p>
        </p:txBody>
      </p:sp>
      <p:sp>
        <p:nvSpPr>
          <p:cNvPr id="33" name="Shape 31"/>
          <p:cNvSpPr/>
          <p:nvPr/>
        </p:nvSpPr>
        <p:spPr>
          <a:xfrm>
            <a:off x="4389120" y="2971800"/>
            <a:ext cx="2011680" cy="301752"/>
          </a:xfrm>
          <a:prstGeom prst="roundRect">
            <a:avLst>
              <a:gd name="adj" fmla="val 24242"/>
            </a:avLst>
          </a:prstGeom>
          <a:solidFill>
            <a:schemeClr val="bg2"/>
          </a:solidFill>
          <a:ln w="12700">
            <a:solidFill>
              <a:schemeClr val="bg2"/>
            </a:solidFill>
            <a:prstDash val="solid"/>
          </a:ln>
        </p:spPr>
      </p:sp>
      <p:sp>
        <p:nvSpPr>
          <p:cNvPr id="34" name="Text 32"/>
          <p:cNvSpPr txBox="1"/>
          <p:nvPr/>
        </p:nvSpPr>
        <p:spPr>
          <a:xfrm>
            <a:off x="4434840" y="2971800"/>
            <a:ext cx="1920240" cy="301752"/>
          </a:xfrm>
          <a:prstGeom prst="rect">
            <a:avLst/>
          </a:prstGeom>
          <a:noFill/>
          <a:ln/>
        </p:spPr>
        <p:txBody>
          <a:bodyPr wrap="square" lIns="0" tIns="0" rIns="0" bIns="0" rtlCol="0" anchor="ctr"/>
          <a:lstStyle/>
          <a:p>
            <a:pPr indent="0" marL="0">
              <a:buNone/>
            </a:pPr>
            <a:r>
              <a:rPr lang="en-US" sz="1000" dirty="0">
                <a:solidFill>
                  <a:schemeClr val="tx1"/>
                </a:solidFill>
              </a:rPr>
              <a:t>117 of 117 tiles</a:t>
            </a:r>
            <a:endParaRPr lang="en-US" sz="1000" dirty="0"/>
          </a:p>
        </p:txBody>
      </p:sp>
      <p:sp>
        <p:nvSpPr>
          <p:cNvPr id="35" name="Shape 33"/>
          <p:cNvSpPr/>
          <p:nvPr/>
        </p:nvSpPr>
        <p:spPr>
          <a:xfrm>
            <a:off x="4389120" y="3337560"/>
            <a:ext cx="2011680" cy="301752"/>
          </a:xfrm>
          <a:prstGeom prst="roundRect">
            <a:avLst>
              <a:gd name="adj" fmla="val 24242"/>
            </a:avLst>
          </a:prstGeom>
          <a:solidFill>
            <a:schemeClr val="bg2"/>
          </a:solidFill>
          <a:ln w="12700">
            <a:solidFill>
              <a:schemeClr val="bg2"/>
            </a:solidFill>
            <a:prstDash val="solid"/>
          </a:ln>
        </p:spPr>
      </p:sp>
      <p:sp>
        <p:nvSpPr>
          <p:cNvPr id="36" name="Text 34"/>
          <p:cNvSpPr txBox="1"/>
          <p:nvPr/>
        </p:nvSpPr>
        <p:spPr>
          <a:xfrm>
            <a:off x="4434840" y="3337560"/>
            <a:ext cx="1920240" cy="301752"/>
          </a:xfrm>
          <a:prstGeom prst="rect">
            <a:avLst/>
          </a:prstGeom>
          <a:noFill/>
          <a:ln/>
        </p:spPr>
        <p:txBody>
          <a:bodyPr wrap="square" lIns="0" tIns="0" rIns="0" bIns="0" rtlCol="0" anchor="ctr"/>
          <a:lstStyle/>
          <a:p>
            <a:pPr indent="0" marL="0">
              <a:buNone/>
            </a:pPr>
            <a:r>
              <a:rPr lang="en-US" sz="1000" dirty="0">
                <a:solidFill>
                  <a:schemeClr val="tx1"/>
                </a:solidFill>
              </a:rPr>
              <a:t>confidence 0.62</a:t>
            </a:r>
            <a:endParaRPr lang="en-US" sz="1000" dirty="0"/>
          </a:p>
        </p:txBody>
      </p:sp>
      <p:sp>
        <p:nvSpPr>
          <p:cNvPr id="37" name="Shape 35"/>
          <p:cNvSpPr/>
          <p:nvPr/>
        </p:nvSpPr>
        <p:spPr>
          <a:xfrm>
            <a:off x="4389120" y="3703320"/>
            <a:ext cx="2011680" cy="301752"/>
          </a:xfrm>
          <a:prstGeom prst="roundRect">
            <a:avLst>
              <a:gd name="adj" fmla="val 24242"/>
            </a:avLst>
          </a:prstGeom>
          <a:solidFill>
            <a:schemeClr val="bg2"/>
          </a:solidFill>
          <a:ln w="12700">
            <a:solidFill>
              <a:schemeClr val="bg2"/>
            </a:solidFill>
            <a:prstDash val="solid"/>
          </a:ln>
        </p:spPr>
      </p:sp>
      <p:sp>
        <p:nvSpPr>
          <p:cNvPr id="38" name="Text 36"/>
          <p:cNvSpPr txBox="1"/>
          <p:nvPr/>
        </p:nvSpPr>
        <p:spPr>
          <a:xfrm>
            <a:off x="4434840" y="3703320"/>
            <a:ext cx="1920240" cy="301752"/>
          </a:xfrm>
          <a:prstGeom prst="rect">
            <a:avLst/>
          </a:prstGeom>
          <a:noFill/>
          <a:ln/>
        </p:spPr>
        <p:txBody>
          <a:bodyPr wrap="square" lIns="0" tIns="0" rIns="0" bIns="0" rtlCol="0" anchor="ctr"/>
          <a:lstStyle/>
          <a:p>
            <a:pPr indent="0" marL="0">
              <a:buNone/>
            </a:pPr>
            <a:r>
              <a:rPr lang="en-US" sz="1000" dirty="0">
                <a:solidFill>
                  <a:schemeClr val="tx1"/>
                </a:solidFill>
              </a:rPr>
              <a:t>receipt re-runs identically</a:t>
            </a:r>
            <a:endParaRPr lang="en-US" sz="1000" dirty="0"/>
          </a:p>
        </p:txBody>
      </p:sp>
      <p:sp>
        <p:nvSpPr>
          <p:cNvPr id="39" name="Text 37"/>
          <p:cNvSpPr txBox="1"/>
          <p:nvPr/>
        </p:nvSpPr>
        <p:spPr>
          <a:xfrm>
            <a:off x="4389120" y="4096512"/>
            <a:ext cx="2011680" cy="457200"/>
          </a:xfrm>
          <a:prstGeom prst="rect">
            <a:avLst/>
          </a:prstGeom>
          <a:noFill/>
          <a:ln/>
        </p:spPr>
        <p:txBody>
          <a:bodyPr wrap="square" lIns="0" tIns="0" rIns="0" bIns="0" rtlCol="0" anchor="t"/>
          <a:lstStyle/>
          <a:p>
            <a:pPr indent="0" marL="0">
              <a:buNone/>
            </a:pPr>
            <a:r>
              <a:rPr lang="en-US" sz="900" dirty="0">
                <a:solidFill>
                  <a:srgbClr val="5B6472"/>
                </a:solidFill>
              </a:rPr>
              <a:t>Water extent, includes the river and wetlands; not yet checked against NRSC maps.</a:t>
            </a:r>
            <a:endParaRPr lang="en-US" sz="900" dirty="0"/>
          </a:p>
        </p:txBody>
      </p:sp>
      <p:sp>
        <p:nvSpPr>
          <p:cNvPr id="40" name="card no"/>
          <p:cNvSpPr/>
          <p:nvPr/>
        </p:nvSpPr>
        <p:spPr>
          <a:xfrm>
            <a:off x="6675120" y="1417320"/>
            <a:ext cx="2194560" cy="3246120"/>
          </a:xfrm>
          <a:prstGeom prst="rect">
            <a:avLst/>
          </a:prstGeom>
          <a:solidFill>
            <a:srgbClr val="F4E6D6"/>
          </a:solidFill>
          <a:ln w="12700">
            <a:solidFill>
              <a:srgbClr val="C9D3E0"/>
            </a:solidFill>
            <a:prstDash val="solid"/>
          </a:ln>
        </p:spPr>
      </p:sp>
      <p:sp>
        <p:nvSpPr>
          <p:cNvPr id="41" name="Text 39"/>
          <p:cNvSpPr txBox="1"/>
          <p:nvPr/>
        </p:nvSpPr>
        <p:spPr>
          <a:xfrm>
            <a:off x="6766560" y="1481328"/>
            <a:ext cx="2011680" cy="256032"/>
          </a:xfrm>
          <a:prstGeom prst="rect">
            <a:avLst/>
          </a:prstGeom>
          <a:noFill/>
          <a:ln/>
        </p:spPr>
        <p:txBody>
          <a:bodyPr wrap="square" lIns="0" tIns="0" rIns="0" bIns="0" rtlCol="0" anchor="ctr"/>
          <a:lstStyle/>
          <a:p>
            <a:pPr indent="0" marL="0">
              <a:buNone/>
            </a:pPr>
            <a:r>
              <a:rPr lang="en-US" sz="1000" b="1" dirty="0">
                <a:solidFill>
                  <a:srgbClr val="8A4A0F"/>
                </a:solidFill>
              </a:rPr>
              <a:t>CONFIDENCE &lt; 0.60</a:t>
            </a:r>
            <a:endParaRPr lang="en-US" sz="1000" dirty="0"/>
          </a:p>
        </p:txBody>
      </p:sp>
      <p:sp>
        <p:nvSpPr>
          <p:cNvPr id="42" name="Text 40"/>
          <p:cNvSpPr txBox="1"/>
          <p:nvPr/>
        </p:nvSpPr>
        <p:spPr>
          <a:xfrm>
            <a:off x="6766560" y="1755648"/>
            <a:ext cx="2011680" cy="2788920"/>
          </a:xfrm>
          <a:prstGeom prst="rect">
            <a:avLst/>
          </a:prstGeom>
          <a:noFill/>
          <a:ln/>
        </p:spPr>
        <p:txBody>
          <a:bodyPr wrap="square" lIns="0" tIns="0" rIns="0" bIns="0" rtlCol="0" anchor="t"/>
          <a:lstStyle/>
          <a:p>
            <a:pPr indent="0" marL="0">
              <a:buNone/>
            </a:pPr>
            <a:r>
              <a:rPr lang="en-US" sz="1800" b="1" dirty="0">
                <a:solidFill>
                  <a:schemeClr val="tx1"/>
                </a:solidFill>
                <a:latin typeface="Times New Roman" pitchFamily="34" charset="0"/>
                <a:ea typeface="Times New Roman" pitchFamily="34" charset="-122"/>
                <a:cs typeface="Times New Roman" pitchFamily="34" charset="-120"/>
              </a:rPr>
              <a:t>Not enough evidence</a:t>
            </a:r>
            <a:endParaRPr lang="en-US" sz="1800" dirty="0"/>
          </a:p>
          <a:p>
            <a:pPr indent="0" marL="0">
              <a:buNone/>
            </a:pPr>
            <a:r>
              <a:rPr lang="en-US" sz="1100" dirty="0">
                <a:solidFill>
                  <a:schemeClr val="tx1"/>
                </a:solidFill>
              </a:rPr>
              <a:t>"Did the flood spread?" abstained at 0.23. Tellio offered what would help instead: the two single-date extents (413 and 914 km²), each published with its own confidence.</a:t>
            </a:r>
            <a:endParaRPr lang="en-US" sz="18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It Works on Held-Out Data</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WHAT A USER GETS</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RISK VS COVERAGE (82 HELD-OUT CHIPS)</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tat 0"/>
          <p:cNvSpPr/>
          <p:nvPr/>
        </p:nvSpPr>
        <p:spPr>
          <a:xfrm>
            <a:off x="320040" y="1143000"/>
            <a:ext cx="1965960" cy="1645920"/>
          </a:xfrm>
          <a:prstGeom prst="rect">
            <a:avLst/>
          </a:prstGeom>
          <a:solidFill>
            <a:srgbClr val="EEF3F9"/>
          </a:solidFill>
          <a:ln w="12700">
            <a:solidFill>
              <a:srgbClr val="C9D3E0"/>
            </a:solidFill>
            <a:prstDash val="solid"/>
          </a:ln>
        </p:spPr>
      </p:sp>
      <p:sp>
        <p:nvSpPr>
          <p:cNvPr id="9" name="Text 7"/>
          <p:cNvSpPr txBox="1"/>
          <p:nvPr/>
        </p:nvSpPr>
        <p:spPr>
          <a:xfrm>
            <a:off x="411480" y="1216152"/>
            <a:ext cx="1783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Times New Roman" pitchFamily="34" charset="0"/>
                <a:ea typeface="Times New Roman" pitchFamily="34" charset="-122"/>
                <a:cs typeface="Times New Roman" pitchFamily="34" charset="-120"/>
              </a:rPr>
              <a:t>45% → 26%</a:t>
            </a:r>
            <a:endParaRPr lang="en-US" sz="2200" dirty="0"/>
          </a:p>
        </p:txBody>
      </p:sp>
      <p:sp>
        <p:nvSpPr>
          <p:cNvPr id="10" name="Text 8"/>
          <p:cNvSpPr txBox="1"/>
          <p:nvPr/>
        </p:nvSpPr>
        <p:spPr>
          <a:xfrm>
            <a:off x="41148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wrong area answers, always answering vs publishing only at 0.60</a:t>
            </a:r>
            <a:endParaRPr lang="en-US" sz="1100" dirty="0"/>
          </a:p>
        </p:txBody>
      </p:sp>
      <p:sp>
        <p:nvSpPr>
          <p:cNvPr id="11" name="stat 1"/>
          <p:cNvSpPr/>
          <p:nvPr/>
        </p:nvSpPr>
        <p:spPr>
          <a:xfrm>
            <a:off x="2423160" y="1143000"/>
            <a:ext cx="1965960" cy="1645920"/>
          </a:xfrm>
          <a:prstGeom prst="rect">
            <a:avLst/>
          </a:prstGeom>
          <a:solidFill>
            <a:srgbClr val="EEF3F9"/>
          </a:solidFill>
          <a:ln w="12700">
            <a:solidFill>
              <a:srgbClr val="C9D3E0"/>
            </a:solidFill>
            <a:prstDash val="solid"/>
          </a:ln>
        </p:spPr>
      </p:sp>
      <p:sp>
        <p:nvSpPr>
          <p:cNvPr id="12" name="Text 10"/>
          <p:cNvSpPr txBox="1"/>
          <p:nvPr/>
        </p:nvSpPr>
        <p:spPr>
          <a:xfrm>
            <a:off x="2514600" y="121615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43%</a:t>
            </a:r>
            <a:endParaRPr lang="en-US" sz="2600" dirty="0"/>
          </a:p>
        </p:txBody>
      </p:sp>
      <p:sp>
        <p:nvSpPr>
          <p:cNvPr id="13" name="Text 11"/>
          <p:cNvSpPr txBox="1"/>
          <p:nvPr/>
        </p:nvSpPr>
        <p:spPr>
          <a:xfrm>
            <a:off x="251460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of questions answered; the rest honestly abstain</a:t>
            </a:r>
            <a:endParaRPr lang="en-US" sz="1100" dirty="0"/>
          </a:p>
        </p:txBody>
      </p:sp>
      <p:sp>
        <p:nvSpPr>
          <p:cNvPr id="14" name="stat 2"/>
          <p:cNvSpPr/>
          <p:nvPr/>
        </p:nvSpPr>
        <p:spPr>
          <a:xfrm>
            <a:off x="320040" y="2926080"/>
            <a:ext cx="1965960" cy="1645920"/>
          </a:xfrm>
          <a:prstGeom prst="rect">
            <a:avLst/>
          </a:prstGeom>
          <a:solidFill>
            <a:srgbClr val="EEF3F9"/>
          </a:solidFill>
          <a:ln w="12700">
            <a:solidFill>
              <a:srgbClr val="C9D3E0"/>
            </a:solidFill>
            <a:prstDash val="solid"/>
          </a:ln>
        </p:spPr>
      </p:sp>
      <p:sp>
        <p:nvSpPr>
          <p:cNvPr id="15" name="Text 13"/>
          <p:cNvSpPr txBox="1"/>
          <p:nvPr/>
        </p:nvSpPr>
        <p:spPr>
          <a:xfrm>
            <a:off x="41148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8 / 8</a:t>
            </a:r>
            <a:endParaRPr lang="en-US" sz="2600" dirty="0"/>
          </a:p>
        </p:txBody>
      </p:sp>
      <p:sp>
        <p:nvSpPr>
          <p:cNvPr id="16" name="Text 14"/>
          <p:cNvSpPr txBox="1"/>
          <p:nvPr/>
        </p:nvSpPr>
        <p:spPr>
          <a:xfrm>
            <a:off x="41148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demo receipts re-ran to identical output hashes (713 tiles)</a:t>
            </a:r>
            <a:endParaRPr lang="en-US" sz="1100" dirty="0"/>
          </a:p>
        </p:txBody>
      </p:sp>
      <p:sp>
        <p:nvSpPr>
          <p:cNvPr id="17" name="stat 3"/>
          <p:cNvSpPr/>
          <p:nvPr/>
        </p:nvSpPr>
        <p:spPr>
          <a:xfrm>
            <a:off x="2423160" y="2926080"/>
            <a:ext cx="1965960" cy="1645920"/>
          </a:xfrm>
          <a:prstGeom prst="rect">
            <a:avLst/>
          </a:prstGeom>
          <a:solidFill>
            <a:srgbClr val="EEF3F9"/>
          </a:solidFill>
          <a:ln w="12700">
            <a:solidFill>
              <a:srgbClr val="C9D3E0"/>
            </a:solidFill>
            <a:prstDash val="solid"/>
          </a:ln>
        </p:spPr>
      </p:sp>
      <p:sp>
        <p:nvSpPr>
          <p:cNvPr id="18" name="Text 16"/>
          <p:cNvSpPr txBox="1"/>
          <p:nvPr/>
        </p:nvSpPr>
        <p:spPr>
          <a:xfrm>
            <a:off x="251460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77 to 98 s</a:t>
            </a:r>
            <a:endParaRPr lang="en-US" sz="2600" dirty="0"/>
          </a:p>
        </p:txBody>
      </p:sp>
      <p:sp>
        <p:nvSpPr>
          <p:cNvPr id="19" name="Text 17"/>
          <p:cNvSpPr txBox="1"/>
          <p:nvPr/>
        </p:nvSpPr>
        <p:spPr>
          <a:xfrm>
            <a:off x="251460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per district on 2 CPU cores, no GPU, 0.5 s cached. An NRSC Assam map came 2 days after its pass.</a:t>
            </a:r>
            <a:endParaRPr lang="en-US" sz="1100" dirty="0"/>
          </a:p>
        </p:txBody>
      </p:sp>
      <p:graphicFrame>
        <p:nvGraphicFramePr>
          <p:cNvPr id="20" name="risk coverage chart" descr=""/>
          <p:cNvGraphicFramePr/>
          <p:nvPr/>
        </p:nvGraphicFramePr>
        <p:xfrm>
          <a:off x="4709160" y="1097280"/>
          <a:ext cx="4160520" cy="30175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709160" y="4114800"/>
            <a:ext cx="4160520" cy="566928"/>
          </a:xfrm>
          <a:prstGeom prst="rect">
            <a:avLst/>
          </a:prstGeom>
          <a:noFill/>
          <a:ln/>
        </p:spPr>
        <p:txBody>
          <a:bodyPr wrap="square" lIns="0" tIns="0" rIns="0" bIns="0" rtlCol="0" anchor="t"/>
          <a:lstStyle/>
          <a:p>
            <a:pPr indent="0" marL="0">
              <a:buNone/>
            </a:pPr>
            <a:r>
              <a:rPr lang="en-US" sz="900" dirty="0">
                <a:solidFill>
                  <a:srgbClr val="5B6472"/>
                </a:solidFill>
              </a:rPr>
              <a:t>Sen1Floods11 test split. Answer counted right if area is within ±20% of hand labels. Our detector itself is ordinary: per-chip IoU 0.36, same as the published Otsu baseline (0.36).</a:t>
            </a:r>
            <a:endParaRPr lang="en-US" sz="9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Trust Must Be Calibrated Locally</a:t>
            </a:r>
            <a:endParaRPr lang="en-US" sz="2600" dirty="0"/>
          </a:p>
        </p:txBody>
      </p:sp>
      <p:graphicFrame>
        <p:nvGraphicFramePr>
          <p:cNvPr id="5" name="loeo chart" descr=""/>
          <p:cNvGraphicFramePr/>
          <p:nvPr/>
        </p:nvGraphicFramePr>
        <p:xfrm>
          <a:off x="274320" y="777240"/>
          <a:ext cx="43434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754880" y="822960"/>
            <a:ext cx="0" cy="3886200"/>
          </a:xfrm>
          <a:prstGeom prst="line">
            <a:avLst/>
          </a:prstGeom>
          <a:noFill/>
          <a:ln w="12700">
            <a:solidFill>
              <a:srgbClr val="1E2430"/>
            </a:solidFill>
            <a:prstDash val="solid"/>
          </a:ln>
        </p:spPr>
      </p:sp>
      <p:sp>
        <p:nvSpPr>
          <p:cNvPr id="7" name="Text 4"/>
          <p:cNvSpPr txBox="1"/>
          <p:nvPr/>
        </p:nvSpPr>
        <p:spPr>
          <a:xfrm>
            <a:off x="4937760" y="822960"/>
            <a:ext cx="3931920" cy="1143000"/>
          </a:xfrm>
          <a:prstGeom prst="rect">
            <a:avLst/>
          </a:prstGeom>
          <a:noFill/>
          <a:ln/>
        </p:spPr>
        <p:txBody>
          <a:bodyPr wrap="square" lIns="0" tIns="0" rIns="0" bIns="0" rtlCol="0" anchor="t"/>
          <a:lstStyle/>
          <a:p>
            <a:pPr indent="0" marL="0">
              <a:buNone/>
            </a:pPr>
            <a:r>
              <a:rPr lang="en-US" sz="1200" b="1" dirty="0">
                <a:solidFill>
                  <a:schemeClr val="tx1"/>
                </a:solidFill>
              </a:rPr>
              <a:t>South Asian floods fool a globally calibrated system.</a:t>
            </a:r>
            <a:endParaRPr lang="en-US" sz="1200" dirty="0"/>
          </a:p>
          <a:p>
            <a:pPr indent="0" marL="0">
              <a:buNone/>
            </a:pPr>
            <a:r>
              <a:rPr lang="en-US" sz="1200" dirty="0">
                <a:solidFill>
                  <a:schemeClr val="tx1"/>
                </a:solidFill>
              </a:rPr>
              <a:t>Fitted on other regions, Tellio would be over-confident on India by 20 points and publish 52% of Indian answers with 55% of them wrong.</a:t>
            </a:r>
            <a:endParaRPr lang="en-US" sz="1200" dirty="0"/>
          </a:p>
        </p:txBody>
      </p:sp>
      <p:sp>
        <p:nvSpPr>
          <p:cNvPr id="8" name="fix 0"/>
          <p:cNvSpPr/>
          <p:nvPr/>
        </p:nvSpPr>
        <p:spPr>
          <a:xfrm>
            <a:off x="4937760" y="2103120"/>
            <a:ext cx="3931920" cy="749808"/>
          </a:xfrm>
          <a:prstGeom prst="rect">
            <a:avLst/>
          </a:prstGeom>
          <a:solidFill>
            <a:srgbClr val="EEF3F9"/>
          </a:solidFill>
          <a:ln w="12700">
            <a:solidFill>
              <a:srgbClr val="C9D3E0"/>
            </a:solidFill>
            <a:prstDash val="solid"/>
          </a:ln>
        </p:spPr>
      </p:sp>
      <p:sp>
        <p:nvSpPr>
          <p:cNvPr id="9" name="Text 6"/>
          <p:cNvSpPr txBox="1"/>
          <p:nvPr/>
        </p:nvSpPr>
        <p:spPr>
          <a:xfrm>
            <a:off x="5029200" y="210312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+20 → +1</a:t>
            </a:r>
            <a:endParaRPr lang="en-US" sz="1800" dirty="0"/>
          </a:p>
        </p:txBody>
      </p:sp>
      <p:sp>
        <p:nvSpPr>
          <p:cNvPr id="10" name="Text 7"/>
          <p:cNvSpPr txBox="1"/>
          <p:nvPr/>
        </p:nvSpPr>
        <p:spPr>
          <a:xfrm>
            <a:off x="6675120" y="2103120"/>
            <a:ext cx="2103120" cy="749808"/>
          </a:xfrm>
          <a:prstGeom prst="rect">
            <a:avLst/>
          </a:prstGeom>
          <a:noFill/>
          <a:ln/>
        </p:spPr>
        <p:txBody>
          <a:bodyPr wrap="square" lIns="0" tIns="0" rIns="0" bIns="0" rtlCol="0" anchor="ctr"/>
          <a:lstStyle/>
          <a:p>
            <a:pPr indent="0" marL="0">
              <a:buNone/>
            </a:pPr>
            <a:r>
              <a:rPr lang="en-US" sz="1100" dirty="0">
                <a:solidFill>
                  <a:schemeClr val="tx1"/>
                </a:solidFill>
              </a:rPr>
              <a:t>over-confidence after refitting on just 8 Indian chips</a:t>
            </a:r>
            <a:endParaRPr lang="en-US" sz="1100" dirty="0"/>
          </a:p>
        </p:txBody>
      </p:sp>
      <p:sp>
        <p:nvSpPr>
          <p:cNvPr id="11" name="fix 1"/>
          <p:cNvSpPr/>
          <p:nvPr/>
        </p:nvSpPr>
        <p:spPr>
          <a:xfrm>
            <a:off x="4937760" y="2971800"/>
            <a:ext cx="3931920" cy="749808"/>
          </a:xfrm>
          <a:prstGeom prst="rect">
            <a:avLst/>
          </a:prstGeom>
          <a:solidFill>
            <a:srgbClr val="EEF3F9"/>
          </a:solidFill>
          <a:ln w="12700">
            <a:solidFill>
              <a:srgbClr val="C9D3E0"/>
            </a:solidFill>
            <a:prstDash val="solid"/>
          </a:ln>
        </p:spPr>
      </p:sp>
      <p:sp>
        <p:nvSpPr>
          <p:cNvPr id="12" name="Text 9"/>
          <p:cNvSpPr txBox="1"/>
          <p:nvPr/>
        </p:nvSpPr>
        <p:spPr>
          <a:xfrm>
            <a:off x="5029200" y="297180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55% → 28%</a:t>
            </a:r>
            <a:endParaRPr lang="en-US" sz="1800" dirty="0"/>
          </a:p>
        </p:txBody>
      </p:sp>
      <p:sp>
        <p:nvSpPr>
          <p:cNvPr id="13" name="Text 10"/>
          <p:cNvSpPr txBox="1"/>
          <p:nvPr/>
        </p:nvSpPr>
        <p:spPr>
          <a:xfrm>
            <a:off x="6675120" y="2971800"/>
            <a:ext cx="2103120" cy="749808"/>
          </a:xfrm>
          <a:prstGeom prst="rect">
            <a:avLst/>
          </a:prstGeom>
          <a:noFill/>
          <a:ln/>
        </p:spPr>
        <p:txBody>
          <a:bodyPr wrap="square" lIns="0" tIns="0" rIns="0" bIns="0" rtlCol="0" anchor="ctr"/>
          <a:lstStyle/>
          <a:p>
            <a:pPr indent="0" marL="0">
              <a:buNone/>
            </a:pPr>
            <a:r>
              <a:rPr lang="en-US" sz="1100" dirty="0">
                <a:solidFill>
                  <a:schemeClr val="tx1"/>
                </a:solidFill>
              </a:rPr>
              <a:t>wrong among published Indian answers</a:t>
            </a:r>
            <a:endParaRPr lang="en-US" sz="1100" dirty="0"/>
          </a:p>
        </p:txBody>
      </p:sp>
      <p:sp>
        <p:nvSpPr>
          <p:cNvPr id="14" name="fix 2"/>
          <p:cNvSpPr/>
          <p:nvPr/>
        </p:nvSpPr>
        <p:spPr>
          <a:xfrm>
            <a:off x="4937760" y="3840480"/>
            <a:ext cx="3931920" cy="749808"/>
          </a:xfrm>
          <a:prstGeom prst="rect">
            <a:avLst/>
          </a:prstGeom>
          <a:solidFill>
            <a:srgbClr val="F4E6D6"/>
          </a:solidFill>
          <a:ln w="12700">
            <a:solidFill>
              <a:srgbClr val="C9D3E0"/>
            </a:solidFill>
            <a:prstDash val="solid"/>
          </a:ln>
        </p:spPr>
      </p:sp>
      <p:sp>
        <p:nvSpPr>
          <p:cNvPr id="15" name="Text 12"/>
          <p:cNvSpPr txBox="1"/>
          <p:nvPr/>
        </p:nvSpPr>
        <p:spPr>
          <a:xfrm>
            <a:off x="5029200" y="3840480"/>
            <a:ext cx="1600200" cy="749808"/>
          </a:xfrm>
          <a:prstGeom prst="rect">
            <a:avLst/>
          </a:prstGeom>
          <a:noFill/>
          <a:ln/>
        </p:spPr>
        <p:txBody>
          <a:bodyPr wrap="square" lIns="0" tIns="0" rIns="0" bIns="0" rtlCol="0" anchor="ctr"/>
          <a:lstStyle/>
          <a:p>
            <a:pPr indent="0" marL="0">
              <a:buNone/>
            </a:pPr>
            <a:r>
              <a:rPr lang="en-US" sz="1800" b="1" dirty="0">
                <a:solidFill>
                  <a:srgbClr val="8A4A0F"/>
                </a:solidFill>
                <a:latin typeface="Times New Roman" pitchFamily="34" charset="0"/>
                <a:ea typeface="Times New Roman" pitchFamily="34" charset="-122"/>
                <a:cs typeface="Times New Roman" pitchFamily="34" charset="-120"/>
              </a:rPr>
              <a:t>52% → 13%</a:t>
            </a:r>
            <a:endParaRPr lang="en-US" sz="1800" dirty="0"/>
          </a:p>
        </p:txBody>
      </p:sp>
      <p:sp>
        <p:nvSpPr>
          <p:cNvPr id="16" name="Text 13"/>
          <p:cNvSpPr txBox="1"/>
          <p:nvPr/>
        </p:nvSpPr>
        <p:spPr>
          <a:xfrm>
            <a:off x="6675120" y="3840480"/>
            <a:ext cx="2103120" cy="749808"/>
          </a:xfrm>
          <a:prstGeom prst="rect">
            <a:avLst/>
          </a:prstGeom>
          <a:noFill/>
          <a:ln/>
        </p:spPr>
        <p:txBody>
          <a:bodyPr wrap="square" lIns="0" tIns="0" rIns="0" bIns="0" rtlCol="0" anchor="ctr"/>
          <a:lstStyle/>
          <a:p>
            <a:pPr indent="0" marL="0">
              <a:buNone/>
            </a:pPr>
            <a:r>
              <a:rPr lang="en-US" sz="1100" dirty="0">
                <a:solidFill>
                  <a:schemeClr val="tx1"/>
                </a:solidFill>
              </a:rPr>
              <a:t>answered: the honest price of a weak instrument</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3"/>
          <p:cNvSpPr/>
          <p:nvPr>
            <p:ph idx="103"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Why This Is Different</a:t>
            </a:r>
            <a:endParaRPr lang="en-US" sz="2600" dirty="0"/>
          </a:p>
        </p:txBody>
      </p:sp>
      <p:sp>
        <p:nvSpPr>
          <p:cNvPr id="5" name="Text 3"/>
          <p:cNvSpPr txBox="1"/>
          <p:nvPr/>
        </p:nvSpPr>
        <p:spPr>
          <a:xfrm>
            <a:off x="274320" y="749808"/>
            <a:ext cx="4846320" cy="292608"/>
          </a:xfrm>
          <a:prstGeom prst="rect">
            <a:avLst/>
          </a:prstGeom>
          <a:noFill/>
          <a:ln/>
        </p:spPr>
        <p:txBody>
          <a:bodyPr wrap="square" lIns="0" tIns="0" rIns="0" bIns="0" rtlCol="0" anchor="ctr"/>
          <a:lstStyle/>
          <a:p>
            <a:pPr algn="ctr" indent="0" marL="0">
              <a:buNone/>
            </a:pPr>
            <a:r>
              <a:rPr lang="en-US" sz="1400" b="1" dirty="0">
                <a:solidFill>
                  <a:schemeClr val="tx1"/>
                </a:solidFill>
              </a:rPr>
              <a:t>READ IN FULL: NO OTHER SYSTEM HAS MORE THAN ONE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4846320" cy="914400"/>
        </p:xfrm>
        <a:graphic>
          <a:graphicData uri="http://schemas.openxmlformats.org/drawingml/2006/table">
            <a:tbl>
              <a:tblPr/>
              <a:tblGrid>
                <a:gridCol w="1691640"/>
                <a:gridCol w="566928"/>
                <a:gridCol w="676656"/>
                <a:gridCol w="640080"/>
                <a:gridCol w="566928"/>
                <a:gridCol w="704088"/>
              </a:tblGrid>
              <a:tr h="329184">
                <a:tc>
                  <a:txBody>
                    <a:bodyPr/>
                    <a:lstStyle/>
                    <a:p>
                      <a:pPr algn="l" indent="0" marL="0">
                        <a:buNone/>
                      </a:pP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900" b="1" dirty="0">
                          <a:solidFill>
                            <a:srgbClr val="1F5A99"/>
                          </a:solidFill>
                          <a:latin typeface="Calibri" pitchFamily="34" charset="0"/>
                          <a:ea typeface="Calibri" pitchFamily="34" charset="-122"/>
                          <a:cs typeface="Calibri" pitchFamily="34" charset="-120"/>
                        </a:rPr>
                        <a:t>Tellio</a:t>
                      </a:r>
                      <a:endParaRPr lang="en-US" sz="9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900" b="1" dirty="0">
                          <a:solidFill>
                            <a:srgbClr val="1E2430"/>
                          </a:solidFill>
                          <a:latin typeface="Calibri" pitchFamily="34" charset="0"/>
                          <a:ea typeface="Calibri" pitchFamily="34" charset="-122"/>
                          <a:cs typeface="Calibri" pitchFamily="34" charset="-120"/>
                        </a:rPr>
                        <a:t>Copernicus GFM</a:t>
                      </a:r>
                      <a:endParaRPr lang="en-US" sz="9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900" b="1" dirty="0">
                          <a:solidFill>
                            <a:srgbClr val="1E2430"/>
                          </a:solidFill>
                          <a:latin typeface="Calibri" pitchFamily="34" charset="0"/>
                          <a:ea typeface="Calibri" pitchFamily="34" charset="-122"/>
                          <a:cs typeface="Calibri" pitchFamily="34" charset="-120"/>
                        </a:rPr>
                        <a:t>RSure-Agent</a:t>
                      </a:r>
                      <a:endParaRPr lang="en-US" sz="9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900" b="1" dirty="0">
                          <a:solidFill>
                            <a:srgbClr val="1E2430"/>
                          </a:solidFill>
                          <a:latin typeface="Calibri" pitchFamily="34" charset="0"/>
                          <a:ea typeface="Calibri" pitchFamily="34" charset="-122"/>
                          <a:cs typeface="Calibri" pitchFamily="34" charset="-120"/>
                        </a:rPr>
                        <a:t>EO-Gym</a:t>
                      </a:r>
                      <a:endParaRPr lang="en-US" sz="9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900" b="1" dirty="0">
                          <a:solidFill>
                            <a:srgbClr val="1E2430"/>
                          </a:solidFill>
                          <a:latin typeface="Calibri" pitchFamily="34" charset="0"/>
                          <a:ea typeface="Calibri" pitchFamily="34" charset="-122"/>
                          <a:cs typeface="Calibri" pitchFamily="34" charset="-120"/>
                        </a:rPr>
                        <a:t>Google Earth AI</a:t>
                      </a:r>
                      <a:endParaRPr lang="en-US" sz="9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Calibrated confidence per answer</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Abstains with a next step</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Scene receipts that re-run</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Radar chosen under cloud</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CPU or offline</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Plain-language questions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274320" y="3529584"/>
            <a:ext cx="4846320" cy="329184"/>
          </a:xfrm>
          <a:prstGeom prst="rect">
            <a:avLst/>
          </a:prstGeom>
          <a:noFill/>
          <a:ln/>
        </p:spPr>
        <p:txBody>
          <a:bodyPr wrap="square" lIns="0" tIns="0" rIns="0" bIns="0" rtlCol="0" anchor="t"/>
          <a:lstStyle/>
          <a:p>
            <a:pPr indent="0" marL="0">
              <a:buNone/>
            </a:pPr>
            <a:r>
              <a:rPr lang="en-US" sz="900" dirty="0">
                <a:solidFill>
                  <a:srgbClr val="5B6472"/>
                </a:solidFill>
              </a:rPr>
              <a:t>● has it   ◐ partial. Based on full reads of the 37 closest papers. Access today: Google Earth AI for US subscribers, Earth Copilot for NASA researchers, ArcGIS assistants paid.</a:t>
            </a:r>
            <a:endParaRPr lang="en-US" sz="900" dirty="0"/>
          </a:p>
        </p:txBody>
      </p:sp>
      <p:sp>
        <p:nvSpPr>
          <p:cNvPr id="8" name="honest limits"/>
          <p:cNvSpPr/>
          <p:nvPr/>
        </p:nvSpPr>
        <p:spPr>
          <a:xfrm>
            <a:off x="274320" y="3904488"/>
            <a:ext cx="4846320" cy="786384"/>
          </a:xfrm>
          <a:prstGeom prst="rect">
            <a:avLst/>
          </a:prstGeom>
          <a:solidFill>
            <a:srgbClr val="F4E6D6"/>
          </a:solidFill>
          <a:ln w="12700">
            <a:solidFill>
              <a:srgbClr val="C9D3E0"/>
            </a:solidFill>
            <a:prstDash val="solid"/>
          </a:ln>
        </p:spPr>
      </p:sp>
      <p:sp>
        <p:nvSpPr>
          <p:cNvPr id="9" name="Text 6"/>
          <p:cNvSpPr txBox="1"/>
          <p:nvPr/>
        </p:nvSpPr>
        <p:spPr>
          <a:xfrm>
            <a:off x="384048" y="3922776"/>
            <a:ext cx="4626864" cy="749808"/>
          </a:xfrm>
          <a:prstGeom prst="rect">
            <a:avLst/>
          </a:prstGeom>
          <a:noFill/>
          <a:ln/>
        </p:spPr>
        <p:txBody>
          <a:bodyPr wrap="square" lIns="0" tIns="0" rIns="0" bIns="0" rtlCol="0" anchor="ctr"/>
          <a:lstStyle/>
          <a:p>
            <a:pPr indent="0" marL="0">
              <a:buNone/>
            </a:pPr>
            <a:r>
              <a:rPr lang="en-US" sz="1100" b="1" dirty="0">
                <a:solidFill>
                  <a:schemeClr val="tx1"/>
                </a:solidFill>
              </a:rPr>
              <a:t>Honest limits: </a:t>
            </a:r>
            <a:pPr indent="0" marL="0">
              <a:buNone/>
            </a:pPr>
            <a:r>
              <a:rPr lang="en-US" sz="1100" dirty="0">
                <a:solidFill>
                  <a:schemeClr val="tx1"/>
                </a:solidFill>
              </a:rPr>
              <a:t>the detector is a classic split-based threshold chain; Indian labels come from one event; no user study yet; the 914 km² figure includes the river and wetlands.</a:t>
            </a:r>
            <a:endParaRPr lang="en-US" sz="1100" dirty="0"/>
          </a:p>
        </p:txBody>
      </p:sp>
      <p:sp>
        <p:nvSpPr>
          <p:cNvPr id="10" name="Shape 7"/>
          <p:cNvSpPr/>
          <p:nvPr/>
        </p:nvSpPr>
        <p:spPr>
          <a:xfrm>
            <a:off x="5349240" y="822960"/>
            <a:ext cx="0" cy="3886200"/>
          </a:xfrm>
          <a:prstGeom prst="line">
            <a:avLst/>
          </a:prstGeom>
          <a:noFill/>
          <a:ln w="12700">
            <a:solidFill>
              <a:srgbClr val="1E2430"/>
            </a:solidFill>
            <a:prstDash val="solid"/>
          </a:ln>
        </p:spPr>
      </p:sp>
      <p:sp>
        <p:nvSpPr>
          <p:cNvPr id="11" name="Text 8"/>
          <p:cNvSpPr txBox="1"/>
          <p:nvPr/>
        </p:nvSpPr>
        <p:spPr>
          <a:xfrm>
            <a:off x="5532120" y="749808"/>
            <a:ext cx="3337560" cy="292608"/>
          </a:xfrm>
          <a:prstGeom prst="rect">
            <a:avLst/>
          </a:prstGeom>
          <a:noFill/>
          <a:ln/>
        </p:spPr>
        <p:txBody>
          <a:bodyPr wrap="square" lIns="0" tIns="0" rIns="0" bIns="0" rtlCol="0" anchor="ctr"/>
          <a:lstStyle/>
          <a:p>
            <a:pPr algn="ctr" indent="0" marL="0">
              <a:buNone/>
            </a:pPr>
            <a:r>
              <a:rPr lang="en-US" sz="1400" b="1" dirty="0">
                <a:solidFill>
                  <a:schemeClr val="tx1"/>
                </a:solidFill>
              </a:rPr>
              <a:t>NEXT</a:t>
            </a:r>
            <a:endParaRPr lang="en-US" sz="1400" dirty="0"/>
          </a:p>
        </p:txBody>
      </p:sp>
      <p:sp>
        <p:nvSpPr>
          <p:cNvPr id="12" name="Text 9"/>
          <p:cNvSpPr txBox="1"/>
          <p:nvPr/>
        </p:nvSpPr>
        <p:spPr>
          <a:xfrm>
            <a:off x="5532120" y="1143000"/>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Better instrument</a:t>
            </a:r>
            <a:endParaRPr lang="en-US" sz="1300" dirty="0"/>
          </a:p>
        </p:txBody>
      </p:sp>
      <p:sp>
        <p:nvSpPr>
          <p:cNvPr id="13" name="Text 10"/>
          <p:cNvSpPr txBox="1"/>
          <p:nvPr/>
        </p:nvSpPr>
        <p:spPr>
          <a:xfrm>
            <a:off x="5532120" y="1417320"/>
            <a:ext cx="3337560" cy="502920"/>
          </a:xfrm>
          <a:prstGeom prst="rect">
            <a:avLst/>
          </a:prstGeom>
          <a:noFill/>
          <a:ln/>
        </p:spPr>
        <p:txBody>
          <a:bodyPr wrap="square" lIns="0" tIns="0" rIns="0" bIns="0" rtlCol="0" anchor="t"/>
          <a:lstStyle/>
          <a:p>
            <a:pPr indent="0" marL="0">
              <a:buNone/>
            </a:pPr>
            <a:r>
              <a:rPr lang="en-US" sz="1100" dirty="0">
                <a:solidFill>
                  <a:schemeClr val="tx1"/>
                </a:solidFill>
              </a:rPr>
              <a:t>Terrain (HAND) and permanent-water masks, per-pixel water probability</a:t>
            </a:r>
            <a:endParaRPr lang="en-US" sz="1100" dirty="0"/>
          </a:p>
        </p:txBody>
      </p:sp>
      <p:sp>
        <p:nvSpPr>
          <p:cNvPr id="14" name="Text 11"/>
          <p:cNvSpPr txBox="1"/>
          <p:nvPr/>
        </p:nvSpPr>
        <p:spPr>
          <a:xfrm>
            <a:off x="5532120" y="2029968"/>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Indian labels</a:t>
            </a:r>
            <a:endParaRPr lang="en-US" sz="1300" dirty="0"/>
          </a:p>
        </p:txBody>
      </p:sp>
      <p:sp>
        <p:nvSpPr>
          <p:cNvPr id="15" name="Text 12"/>
          <p:cNvSpPr txBox="1"/>
          <p:nvPr/>
        </p:nvSpPr>
        <p:spPr>
          <a:xfrm>
            <a:off x="5532120" y="2304288"/>
            <a:ext cx="3337560" cy="502920"/>
          </a:xfrm>
          <a:prstGeom prst="rect">
            <a:avLst/>
          </a:prstGeom>
          <a:noFill/>
          <a:ln/>
        </p:spPr>
        <p:txBody>
          <a:bodyPr wrap="square" lIns="0" tIns="0" rIns="0" bIns="0" rtlCol="0" anchor="t"/>
          <a:lstStyle/>
          <a:p>
            <a:pPr indent="0" marL="0">
              <a:buNone/>
            </a:pPr>
            <a:r>
              <a:rPr lang="en-US" sz="1100" dirty="0">
                <a:solidFill>
                  <a:schemeClr val="tx1"/>
                </a:solidFill>
              </a:rPr>
              <a:t>Label chips from Assam and Bihar events; test across events</a:t>
            </a:r>
            <a:endParaRPr lang="en-US" sz="1100" dirty="0"/>
          </a:p>
        </p:txBody>
      </p:sp>
      <p:sp>
        <p:nvSpPr>
          <p:cNvPr id="16" name="Text 13"/>
          <p:cNvSpPr txBox="1"/>
          <p:nvPr/>
        </p:nvSpPr>
        <p:spPr>
          <a:xfrm>
            <a:off x="5532120" y="2916936"/>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User study</a:t>
            </a:r>
            <a:endParaRPr lang="en-US" sz="1300" dirty="0"/>
          </a:p>
        </p:txBody>
      </p:sp>
      <p:sp>
        <p:nvSpPr>
          <p:cNvPr id="17" name="Text 14"/>
          <p:cNvSpPr txBox="1"/>
          <p:nvPr/>
        </p:nvSpPr>
        <p:spPr>
          <a:xfrm>
            <a:off x="5532120" y="3191256"/>
            <a:ext cx="3337560" cy="502920"/>
          </a:xfrm>
          <a:prstGeom prst="rect">
            <a:avLst/>
          </a:prstGeom>
          <a:noFill/>
          <a:ln/>
        </p:spPr>
        <p:txBody>
          <a:bodyPr wrap="square" lIns="0" tIns="0" rIns="0" bIns="0" rtlCol="0" anchor="t"/>
          <a:lstStyle/>
          <a:p>
            <a:pPr indent="0" marL="0">
              <a:buNone/>
            </a:pPr>
            <a:r>
              <a:rPr lang="en-US" sz="1100" dirty="0">
                <a:solidFill>
                  <a:schemeClr val="tx1"/>
                </a:solidFill>
              </a:rPr>
              <a:t>10 to 15 non-GIS users: cards vs map tools, timed</a:t>
            </a:r>
            <a:endParaRPr lang="en-US" sz="1100" dirty="0"/>
          </a:p>
        </p:txBody>
      </p:sp>
      <p:sp>
        <p:nvSpPr>
          <p:cNvPr id="18" name="Text 15"/>
          <p:cNvSpPr txBox="1"/>
          <p:nvPr/>
        </p:nvSpPr>
        <p:spPr>
          <a:xfrm>
            <a:off x="5532120" y="3803904"/>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Publish</a:t>
            </a:r>
            <a:endParaRPr lang="en-US" sz="1300" dirty="0"/>
          </a:p>
        </p:txBody>
      </p:sp>
      <p:sp>
        <p:nvSpPr>
          <p:cNvPr id="19" name="Text 16"/>
          <p:cNvSpPr txBox="1"/>
          <p:nvPr/>
        </p:nvSpPr>
        <p:spPr>
          <a:xfrm>
            <a:off x="5532120" y="4078224"/>
            <a:ext cx="3337560" cy="502920"/>
          </a:xfrm>
          <a:prstGeom prst="rect">
            <a:avLst/>
          </a:prstGeom>
          <a:noFill/>
          <a:ln/>
        </p:spPr>
        <p:txBody>
          <a:bodyPr wrap="square" lIns="0" tIns="0" rIns="0" bIns="0" rtlCol="0" anchor="t"/>
          <a:lstStyle/>
          <a:p>
            <a:pPr indent="0" marL="0">
              <a:buNone/>
            </a:pPr>
            <a:r>
              <a:rPr lang="en-US" sz="1100" dirty="0">
                <a:solidFill>
                  <a:schemeClr val="tx1"/>
                </a:solidFill>
              </a:rPr>
              <a:t>Workshop paper (draft ready, IEEE format) and open release</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ellio Plain">
  <a:themeElements>
    <a:clrScheme name="Tellio Plain">
      <a:dk1>
        <a:srgbClr val="1E2430"/>
      </a:dk1>
      <a:lt1>
        <a:srgbClr val="FFFFFF"/>
      </a:lt1>
      <a:dk2>
        <a:srgbClr val="1F5A99"/>
      </a:dk2>
      <a:lt2>
        <a:srgbClr val="EEF3F9"/>
      </a:lt2>
      <a:accent1>
        <a:srgbClr val="1F5A99"/>
      </a:accent1>
      <a:accent2>
        <a:srgbClr val="D9822B"/>
      </a:accent2>
      <a:accent3>
        <a:srgbClr val="2A9D8F"/>
      </a:accent3>
      <a:accent4>
        <a:srgbClr val="9A9A9A"/>
      </a:accent4>
      <a:accent5>
        <a:srgbClr val="8C5BA8"/>
      </a:accent5>
      <a:accent6>
        <a:srgbClr val="5B6472"/>
      </a:accent6>
      <a:hlink>
        <a:srgbClr val="1F5A99"/>
      </a:hlink>
      <a:folHlink>
        <a:srgbClr val="8C5BA8"/>
      </a:folHlink>
    </a:clrScheme>
    <a:fontScheme name="Tellio Plai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Tellio: why it matters</dc:title>
  <dc:subject>PptxGenJS Presentation</dc:subject>
  <dc:creator>Team Stardust</dc:creator>
  <cp:lastModifiedBy>Team Stardust</cp:lastModifiedBy>
  <cp:revision>1</cp:revision>
  <dcterms:created xsi:type="dcterms:W3CDTF">2026-10-28T16:21:12Z</dcterms:created>
  <dcterms:modified xsi:type="dcterms:W3CDTF">2026-10-28T16:21:12Z</dcterms:modified>
</cp:coreProperties>
</file>